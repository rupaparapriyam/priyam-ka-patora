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India D2C market ($B)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C7E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108.76</c:v>
                </c:pt>
                <c:pt idx="1">
                  <c:v>135.2</c:v>
                </c:pt>
                <c:pt idx="2">
                  <c:v>168</c:v>
                </c:pt>
                <c:pt idx="3">
                  <c:v>208.8</c:v>
                </c:pt>
                <c:pt idx="4">
                  <c:v>259.6</c:v>
                </c:pt>
                <c:pt idx="5">
                  <c:v>322.1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F3C7E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E4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6"/>
        </a:solidFill>
        <a:ln>
          <a:noFill/>
        </a:ln>
        <a:effectLst/>
      </c:spPr>
    </c:plotArea>
    <c:plotVisOnly val="1"/>
    <c:dispBlanksAs val="span"/>
  </c:chart>
  <c:spPr>
    <a:solidFill>
      <a:srgbClr val="F7F7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image" Target="../media/image-8-1.png"/><Relationship Id="rId7" Type="http://schemas.openxmlformats.org/officeDocument/2006/relationships/image" Target="../media/image-8-1.png"/><Relationship Id="rId8" Type="http://schemas.openxmlformats.org/officeDocument/2006/relationships/image" Target="../media/image-8-1.png"/><Relationship Id="rId9" Type="http://schemas.openxmlformats.org/officeDocument/2006/relationships/image" Target="../media/image-8-1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645920"/>
            <a:ext cx="5486400" cy="5486400"/>
          </a:xfrm>
          <a:prstGeom prst="ellipse">
            <a:avLst/>
          </a:prstGeom>
          <a:solidFill>
            <a:srgbClr val="2F3C7E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657600" cy="365760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21792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5" name="Image 0" descr="/tmp/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753466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6217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 for India's D2C brands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118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analytics built for Razorpay, WhatsApp, and Indian logistics from day one — not bolted on later.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806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PITCH DECK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 ·  Founder      |    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D2C brand means living in six different tabs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6" name="Image 0" descr="/tmp/deck/icons/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203704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8096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 / GA4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and on-site behavior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69664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0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1" name="Image 1" descr="/tmp/deck/icons/a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20370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&amp; Google Ads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Spend, CAC, and creative performance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790688" y="1874520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10144" y="209397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6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0370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10144" y="2715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010144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recovery, order updates, broadcasts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1" name="Image 3" descr="/tmp/deck/icons/pay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197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68096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RTO, and settlement data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169664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89120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6" name="Image 4" descr="/tmp/deck/icons/shipp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197096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389120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Shiprocket / Delhivery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4389120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COD, and returns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790688" y="3867912"/>
            <a:ext cx="3364992" cy="1737360"/>
          </a:xfrm>
          <a:prstGeom prst="roundRect">
            <a:avLst>
              <a:gd name="adj" fmla="val 631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10144" y="4087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31" name="Image 5" descr="/tmp/deck/icons/searc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2" y="4197096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10144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450" dirty="0"/>
          </a:p>
        </p:txBody>
      </p:sp>
      <p:sp>
        <p:nvSpPr>
          <p:cNvPr id="33" name="Text 25"/>
          <p:cNvSpPr txBox="1"/>
          <p:nvPr/>
        </p:nvSpPr>
        <p:spPr>
          <a:xfrm>
            <a:off x="8010144" y="5074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all gets stitched together, manually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1081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 lived this firsthand running SURGE, a D2C hair-styling brand — this isn't a theory, it's a lived operating cost.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dashboard. Every channel. Plain-language answers.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pulls GA4, ad platforms, WhatsApp, Razorpay, and Indian logistics into a single view — then explains what changed and why, instead of handing back another chart.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302666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7" name="Image 0" descr="/tmp/deck/icons/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1363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816352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storytelling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315468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"CAC rose 18% this week because Meta creative fatigue hit your top SKU" — not just a chart.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959352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42885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2" name="Image 1" descr="/tmp/deck/icons/pay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439826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4078224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India-native from day one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441655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Razorpay + Shiprocket/Delhivery data — the piece every global tool is missing.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5221224"/>
            <a:ext cx="6675120" cy="1115568"/>
          </a:xfrm>
          <a:prstGeom prst="roundRect">
            <a:avLst>
              <a:gd name="adj" fmla="val 8197"/>
            </a:avLst>
          </a:prstGeom>
          <a:solidFill>
            <a:srgbClr val="2F3C7E"/>
          </a:solidFill>
          <a:ln/>
        </p:spPr>
      </p:sp>
      <p:sp>
        <p:nvSpPr>
          <p:cNvPr id="16" name="Shape 12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7" name="Image 2" descr="/tmp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66013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340096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built in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567842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recovery and order-update data live in the same view as ad spend and revenue.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543800" y="1627632"/>
            <a:ext cx="4096512" cy="4434840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781812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HONEST ABOUT THE WEDGE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7818120" y="22402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"plain-language insight" already exists at Polar Analytics and Lifesight — reviewer-confirmed, not a novel idea on its own.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818120" y="3246120"/>
            <a:ext cx="3291840" cy="914"/>
          </a:xfrm>
          <a:prstGeom prst="line">
            <a:avLst/>
          </a:prstGeom>
          <a:noFill/>
          <a:ln w="12700">
            <a:solidFill>
              <a:srgbClr val="E4E4E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8181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real, verified gap: zero major global tool supports Razorpay or Indian logistics natively — confirmed directly in Triple Whale's own integration docs.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7818120" y="47091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combination — cross-channel AI storytelling + India-native data, together — is the wedge, not any single piece alone.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six data sources to one plain-language 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9808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7" name="Image 0" descr="/tmp/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27146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GA4, Meta, Google Ads, WhatsApp, Razorpay, Shiprocket/Delhivery — one setup flow.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99816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10128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11296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511296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4" name="Image 1" descr="/tmp/deck/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59" y="271467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11296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11296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cross-references spend, funnel, payments, and delivery data automatically.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861304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071616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72784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72784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1" name="Image 2" descr="/tmp/deck/icons/insigh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847" y="2714671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72784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272784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findings: what changed, why, and which channel is responsible.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622792" y="33832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833104" y="2011680"/>
            <a:ext cx="2542032" cy="3200400"/>
          </a:xfrm>
          <a:prstGeom prst="roundRect">
            <a:avLst>
              <a:gd name="adj" fmla="val 431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34272" y="21762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34272" y="257860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28" name="Image 3" descr="/tmp/deck/icons/tren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0335" y="2714671"/>
            <a:ext cx="294803" cy="29480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34272" y="331012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9034272" y="370332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ranked recommendations — not just another chart to interpret yourself.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440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output: “RTO on your Delhi-NCR COD orders jumped to 22% this week — driven almost entirely by Shiprocket’s Bluedart shipments, not Delhivery. Recommend pausing COD for Bluedart in this pincode cluster.”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today. An $8.5 trillion category to grow into.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$108.76B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D2C market,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24.3%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CAGR through 2031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55280" y="1645920"/>
            <a:ext cx="3474720" cy="1051560"/>
          </a:xfrm>
          <a:prstGeom prst="roundRect">
            <a:avLst>
              <a:gd name="adj" fmla="val 8696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$322.1B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market, 2031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04495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D2C MARKET, MODELED 2026–2031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31520" y="3383280"/>
          <a:ext cx="4983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77240" y="574243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from the two verified endpoints (2026, 2031) using Mordor Intelligence's 24.3% CAGR — not a year-by-year reported figure.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2880360"/>
            <a:ext cx="5303520" cy="3246120"/>
          </a:xfrm>
          <a:prstGeom prst="roundRect">
            <a:avLst>
              <a:gd name="adj" fmla="val 3380"/>
            </a:avLst>
          </a:prstGeom>
          <a:solidFill>
            <a:srgbClr val="2F3C7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55080" y="3081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SOFTWARE SPEND, NOT GMV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3447288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above describe the market our customers sell into — not a verified SaaS-tool spend estimate. Benchmarked against Triple Whale ($124–$375+/mo) and Putler ($20–$750/mo), a defensible entry price for the ₹10L–₹4Cr/month D2C segment is roughly $50–$300/month per brand.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355080" y="4754880"/>
            <a:ext cx="4754880" cy="914"/>
          </a:xfrm>
          <a:prstGeom prst="line">
            <a:avLst/>
          </a:prstGeom>
          <a:noFill/>
          <a:ln w="12700">
            <a:solidFill>
              <a:srgbClr val="3E4A8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4892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~800–2,500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536752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 of funded/scaling Indian D2C brands in the addressable revenue band — needs validation, not a sourced figure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23620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Mordor Intelligence, India D2C E-commerce Market Analysis (2026). Global context and expansion path: see the Roadmap slide. All figures beyond named sources are Priyam's own construction, flagged as such.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top-right quadrant is real — and currently empty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766560" cy="4206240"/>
          </a:xfrm>
          <a:prstGeom prst="rect">
            <a:avLst/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31920" y="1920240"/>
            <a:ext cx="0" cy="4206240"/>
          </a:xfrm>
          <a:prstGeom prst="line">
            <a:avLst/>
          </a:prstGeom>
          <a:noFill/>
          <a:ln w="19050">
            <a:solidFill>
              <a:srgbClr val="E4E4EC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48640" y="4023360"/>
            <a:ext cx="6766560" cy="0"/>
          </a:xfrm>
          <a:prstGeom prst="line">
            <a:avLst/>
          </a:prstGeom>
          <a:noFill/>
          <a:ln w="19050">
            <a:solidFill>
              <a:srgbClr val="E4E4E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48640" y="15910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INSIGHT →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05156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INDIA-NATIVE DATA →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Whale · Polar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78892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7889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Northbeam · Rockerbox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24528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Lifesight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0" y="42062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24528" y="42062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(CRM-first)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0" y="480060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4528" y="4800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521208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52120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Daasity · Glew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69080" y="28346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69080" y="28803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069080" y="33375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quadrant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1920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MAP DOESN'T SHOW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35240" y="23317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24231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already combines WhatsApp + Shopify + Razorpay — positioned as CRM, not analytics, but worth re-checking directly before assuming an open lane.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35240" y="3630168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18120" y="3721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Putler claims native Razorpay support — its own pricing page didn't list it among headline integrations when checked. Unresolved, flagged honestly.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35240" y="4928616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18120" y="502005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itself is building an RTO Analytics Dashboard — a real strategic risk to the payments-data layer of this product.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shifts are converging in India right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tre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176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 is compounding at 24%+/yr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D2C market is projected to nearly triple by 2031 (Mordor Intelligence) — more brands, more channels, more data to reconcile.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062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10" name="Shape 7"/>
          <p:cNvSpPr/>
          <p:nvPr/>
        </p:nvSpPr>
        <p:spPr>
          <a:xfrm>
            <a:off x="44622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1" name="Image 1" descr="/tmp/deck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946" y="24176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622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 just got easier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44622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lowered its higher-access threshold from 1,500 to 500 API calls in 15 days and dropped the screen-recording requirement — a real, recent unlock.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863840" y="201168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15" name="Shape 11"/>
          <p:cNvSpPr/>
          <p:nvPr/>
        </p:nvSpPr>
        <p:spPr>
          <a:xfrm>
            <a:off x="8119872" y="22860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16" name="Image 2" descr="/tmp/deck/icons/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546" y="24176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19872" y="3017520"/>
            <a:ext cx="2916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creates a compliance-first opening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370332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new data law (18-month phased window) rewards a tool built India-compliant from day one, not retrofitted by a foreign vendor.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Simple, usage-tiered SaaS — priced to beat "just use spreadsheets"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10312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46888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$50/mo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₹10L/mo revenue</a:t>
            </a:r>
            <a:endParaRPr lang="en-US" sz="1150" dirty="0"/>
          </a:p>
        </p:txBody>
      </p:sp>
      <p:pic>
        <p:nvPicPr>
          <p:cNvPr id="8" name="Image 0" descr="/tmp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584448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78992" y="3529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dashboard</a:t>
            </a:r>
            <a:endParaRPr lang="en-US" sz="1150" dirty="0"/>
          </a:p>
        </p:txBody>
      </p:sp>
      <p:pic>
        <p:nvPicPr>
          <p:cNvPr id="10" name="Image 1" descr="/tmp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04164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8992" y="39867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+ 1 ad platform</a:t>
            </a:r>
            <a:endParaRPr lang="en-US" sz="1150" dirty="0"/>
          </a:p>
        </p:txBody>
      </p:sp>
      <p:pic>
        <p:nvPicPr>
          <p:cNvPr id="12" name="Image 2" descr="/tmp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49884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78992" y="4443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cart-recovery view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242816" y="1737360"/>
            <a:ext cx="3474720" cy="4251960"/>
          </a:xfrm>
          <a:prstGeom prst="roundRect">
            <a:avLst>
              <a:gd name="adj" fmla="val 3158"/>
            </a:avLst>
          </a:prstGeom>
          <a:solidFill>
            <a:srgbClr val="2F3C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498848" y="196596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498848" y="233172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$150/mo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498848" y="292608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₹10L–₹1Cr/mo revenue</a:t>
            </a:r>
            <a:endParaRPr lang="en-US" sz="1150" dirty="0"/>
          </a:p>
        </p:txBody>
      </p:sp>
      <p:pic>
        <p:nvPicPr>
          <p:cNvPr id="18" name="Image 3" descr="/tmp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3447288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773168" y="33924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150" dirty="0"/>
          </a:p>
        </p:txBody>
      </p:sp>
      <p:pic>
        <p:nvPicPr>
          <p:cNvPr id="20" name="Image 4" descr="/tmp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904488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773168" y="3849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+ logistics data</a:t>
            </a:r>
            <a:endParaRPr lang="en-US" sz="1150" dirty="0"/>
          </a:p>
        </p:txBody>
      </p:sp>
      <p:pic>
        <p:nvPicPr>
          <p:cNvPr id="22" name="Image 5" descr="/tmp/dec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361688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773168" y="43068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plain-language insights</a:t>
            </a:r>
            <a:endParaRPr lang="en-US" sz="1150" dirty="0"/>
          </a:p>
        </p:txBody>
      </p:sp>
      <p:sp>
        <p:nvSpPr>
          <p:cNvPr id="24" name="Shape 16"/>
          <p:cNvSpPr/>
          <p:nvPr/>
        </p:nvSpPr>
        <p:spPr>
          <a:xfrm>
            <a:off x="7936992" y="187452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8193024" y="210312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193024" y="246888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$300+/mo</a:t>
            </a:r>
            <a:endParaRPr lang="en-US" sz="2800" dirty="0"/>
          </a:p>
        </p:txBody>
      </p:sp>
      <p:sp>
        <p:nvSpPr>
          <p:cNvPr id="27" name="Text 19"/>
          <p:cNvSpPr txBox="1"/>
          <p:nvPr/>
        </p:nvSpPr>
        <p:spPr>
          <a:xfrm>
            <a:off x="8193024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₹1Cr+/mo revenue</a:t>
            </a:r>
            <a:endParaRPr lang="en-US" sz="1150" dirty="0"/>
          </a:p>
        </p:txBody>
      </p:sp>
      <p:pic>
        <p:nvPicPr>
          <p:cNvPr id="28" name="Image 6" descr="/tmp/dec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584448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8467344" y="3529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Growth</a:t>
            </a:r>
            <a:endParaRPr lang="en-US" sz="1150" dirty="0"/>
          </a:p>
        </p:txBody>
      </p:sp>
      <p:pic>
        <p:nvPicPr>
          <p:cNvPr id="30" name="Image 7" descr="/tmp/deck/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024" y="4041648"/>
            <a:ext cx="201168" cy="20116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8467344" y="39867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/ multi-store</a:t>
            </a:r>
            <a:endParaRPr lang="en-US" sz="1150" dirty="0"/>
          </a:p>
        </p:txBody>
      </p:sp>
      <p:pic>
        <p:nvPicPr>
          <p:cNvPr id="32" name="Image 8" descr="/tmp/deck/icons/che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4498848"/>
            <a:ext cx="201168" cy="20116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467344" y="44439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 &amp; onboarding</a:t>
            </a:r>
            <a:endParaRPr lang="en-US" sz="1150" dirty="0"/>
          </a:p>
        </p:txBody>
      </p:sp>
      <p:sp>
        <p:nvSpPr>
          <p:cNvPr id="34" name="Text 23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Triple Whale ($124–$375+/mo, verified via G2) and Putler ($20–$750/mo, verified via own pricing page) — priced for India's thinner D2C margins.</a:t>
            </a:r>
            <a:endParaRPr lang="en-US" sz="11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6" name="Text 2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Founder-led, then partner-led — not a paid-ads land grab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7" name="Image 0" descr="/tmp/deck/icons/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28" y="2276856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80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founder outreach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Priyam's own D2C network + Indian D2C founder communities — the same channel used for the validation interviews.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256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8580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3" name="Image 1" descr="/tmp/deck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227685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256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BSP partnerships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44256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partnerships with AiSensy / Wati / Interakt — they already sit inside the same brands' stack.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63840" y="196596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0515600" y="21671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2F3C7E"/>
          </a:solidFill>
          <a:ln/>
        </p:spPr>
      </p:sp>
      <p:pic>
        <p:nvPicPr>
          <p:cNvPr id="19" name="Image 2" descr="/tmp/deck/icons/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227685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83296" y="274320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 App Store listing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8083296" y="3246120"/>
            <a:ext cx="2990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discovery channel once the core integrations (GA4, Razorpay, logistics) are live.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0835640" cy="1143000"/>
          </a:xfrm>
          <a:prstGeom prst="roundRect">
            <a:avLst>
              <a:gd name="adj" fmla="val 8000"/>
            </a:avLst>
          </a:prstGeom>
          <a:solidFill>
            <a:srgbClr val="2F3C7E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22960" y="5074920"/>
            <a:ext cx="10287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acquisition in the plan yet — deliberately. At this stage the goal is 10–20 design-partner brands who pay because the product solves a real, specific problem, not because of a marketing budget.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first, earned — not global, assumed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D2C category is worth $8.5T in 2026, heading to $33.5T by 2033 (Grand View Research). India is the proven beachhead into that category, not its ceiling.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F3C7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Sep–Oct 2026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India founder interviews. Kill criteria set. Zero production code.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37667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83180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24912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F3C7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7792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07792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MVP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07792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2026–Feb 2027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integrations live. 5–10 paying design-partner brands.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907792" y="537667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759452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01184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84064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84064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Scale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84064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H1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84064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feature set incl. AI copilot. 30+ paying brands. Unit economics proven.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935724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077456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0336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60336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Adjacent Market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60336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260336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same payment-ecosystem-gap thesis in one new market (SEA or LatAm).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111996" y="3845052"/>
            <a:ext cx="137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253728" y="2331720"/>
            <a:ext cx="2029968" cy="3429000"/>
          </a:xfrm>
          <a:prstGeom prst="roundRect">
            <a:avLst>
              <a:gd name="adj" fmla="val 4505"/>
            </a:avLst>
          </a:prstGeom>
          <a:solidFill>
            <a:srgbClr val="222E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436608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436608" y="28803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Multi-Market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436608" y="350215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436608" y="3840480"/>
            <a:ext cx="16642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proven playbook market-by-market. Global positioning, now earned.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01–02 (coral outline) are what this pre-seed round funds. Phases 03–05 are the vision this validates a path toward — not asked for today.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ACTUALLY STANDS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Pre-launch, and we're saying so plainly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F7F7F6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pic>
        <p:nvPicPr>
          <p:cNvPr id="6" name="Image 0" descr="/tmp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41448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23774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competitive research across 12+ tools — pricing, integrations, and positioning verified via G2, vendor docs, and press.</a:t>
            </a:r>
            <a:endParaRPr lang="en-US" sz="1150" dirty="0"/>
          </a:p>
        </p:txBody>
      </p:sp>
      <p:pic>
        <p:nvPicPr>
          <p:cNvPr id="8" name="Image 1" descr="/tmp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355848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15568" y="32918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Confirmed, source-level technical gap: no major global tool supports Razorpay or Indian logistics natively.</a:t>
            </a:r>
            <a:endParaRPr lang="en-US" sz="1150" dirty="0"/>
          </a:p>
        </p:txBody>
      </p:sp>
      <p:pic>
        <p:nvPicPr>
          <p:cNvPr id="10" name="Image 2" descr="/tmp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70248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15568" y="42062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reality-checked: Meta/Google API access and DPDP Act compliance are real but non-blocking at MVP stage.</a:t>
            </a:r>
            <a:endParaRPr lang="en-US" sz="1150" dirty="0"/>
          </a:p>
        </p:txBody>
      </p:sp>
      <p:pic>
        <p:nvPicPr>
          <p:cNvPr id="12" name="Image 3" descr="/tmp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84648"/>
            <a:ext cx="201168" cy="20116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064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Founder-market fit: the problem was lived firsthand running SURGE, a real D2C brand.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6035040" y="1874520"/>
            <a:ext cx="5577840" cy="4160520"/>
          </a:xfrm>
          <a:prstGeom prst="roundRect">
            <a:avLst>
              <a:gd name="adj" fmla="val 2637"/>
            </a:avLst>
          </a:prstGeom>
          <a:solidFill>
            <a:srgbClr val="F96167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6309360" y="2057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— AND THAT'S THE ASK</a:t>
            </a:r>
            <a:endParaRPr lang="en-US" sz="1200" dirty="0"/>
          </a:p>
        </p:txBody>
      </p:sp>
      <p:pic>
        <p:nvPicPr>
          <p:cNvPr id="16" name="Image 4" descr="/tmp/deck/icons/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4688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01968" y="240487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founder interviews conducted yet — the single most important next step, not yet done.</a:t>
            </a:r>
            <a:endParaRPr lang="en-US" sz="1150" dirty="0"/>
          </a:p>
        </p:txBody>
      </p:sp>
      <p:pic>
        <p:nvPicPr>
          <p:cNvPr id="18" name="Image 5" descr="/tmp/deck/icons/w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601968" y="345643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sourced evidence (Reddit, Indie Hackers, X) of founders publicly complaining about this exact pain — an honest, unresolved gap.</a:t>
            </a:r>
            <a:endParaRPr lang="en-US" sz="1150" dirty="0"/>
          </a:p>
        </p:txBody>
      </p:sp>
      <p:pic>
        <p:nvPicPr>
          <p:cNvPr id="20" name="Image 6" descr="/tmp/deck/icons/warn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572000"/>
            <a:ext cx="201168" cy="20116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601968" y="450799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built, no design partners signed, no revenue.</a:t>
            </a:r>
            <a:endParaRPr lang="en-US" sz="1150" dirty="0"/>
          </a:p>
        </p:txBody>
      </p:sp>
      <p:sp>
        <p:nvSpPr>
          <p:cNvPr id="22" name="Text 13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capital's first job is closing that gap: fund 30 days of direct founder conversations before a single line of production code.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4" name="Text 15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risk list, not the hidden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93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is still unproven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51960" y="21305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20939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sourced founder complaints found in two research passes.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18120" y="21305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0" y="20939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structured interviews in the first 30 days, with kill criteria set in advance.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941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could commoditize the payments layer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51960" y="37307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36941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is already building its own RTO Analytics Dashboard.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37307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0" y="36941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on cross-channel synthesis (ads + WhatsApp + logistics together), not payments data alone.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2F3C7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943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and Putler sit adjacent, not clear of us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251960" y="53309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52943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BiteSpeed already combines WhatsApp+Shopify+Razorpay; Putler claims native Razorpay support.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18120" y="5330952"/>
            <a:ext cx="914" cy="1088136"/>
          </a:xfrm>
          <a:prstGeom prst="line">
            <a:avLst/>
          </a:prstGeom>
          <a:noFill/>
          <a:ln w="19050">
            <a:solidFill>
              <a:srgbClr val="3E4A8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0" y="5294376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both products directly pre-build; position as analytics-first where they're CRM/messaging-first.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Founder-market fit, not a resume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1508760" y="2331720"/>
            <a:ext cx="1371600" cy="1371600"/>
          </a:xfrm>
          <a:prstGeom prst="roundRect">
            <a:avLst>
              <a:gd name="adj" fmla="val 28000"/>
            </a:avLst>
          </a:prstGeom>
          <a:solidFill>
            <a:srgbClr val="F96167"/>
          </a:solidFill>
          <a:ln/>
        </p:spPr>
      </p:sp>
      <p:pic>
        <p:nvPicPr>
          <p:cNvPr id="6" name="Image 0" descr="/tmp/deck/icons/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7944" y="2660904"/>
            <a:ext cx="713232" cy="713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Priyam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160520" y="19659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 the problem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3774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SURGE, a D2C hair-styling brand — juggled the exact six-dashboard problem this product solves, firsthand.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32918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Research-first operating style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in this deck is tagged verified / vendor claim / inference — the same discipline this company will run on internally.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46177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about the gap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502920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Actively closing the biggest open risk (demand validation) before writing product code — not after raising.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2F3C7E">
              <a:alpha val="5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Pre-seed: fund the validation, then the build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$40K–$60K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FF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pre-seed ask — placeholder, set the real number with your investors' typical check size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874520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9842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days, 20 founder interviews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3774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willingness-to-pay before writing production code.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3136392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3246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build (3 core integrations)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63931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+ Razorpay + one logistics carrier — the smallest provable version of the wedge.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34840" y="4398264"/>
            <a:ext cx="7223760" cy="1097280"/>
          </a:xfrm>
          <a:prstGeom prst="roundRect">
            <a:avLst>
              <a:gd name="adj" fmla="val 8333"/>
            </a:avLst>
          </a:prstGeom>
          <a:solidFill>
            <a:srgbClr val="2F3C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50799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490118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paying pilot brands, priced from day one, not given away free.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2F3C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931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5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SUCCESS LOOKS LIKE IN 90 DAYS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Either: real, sourced evidence of willingness-to-pay from 5+ brands — or a clear, evidence-based kill decision. Both are a successful use of this capital.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HUB  ·  PRE-SEED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2026-08-29T17:15:39Z</dcterms:created>
  <dcterms:modified xsi:type="dcterms:W3CDTF">2026-08-29T17:15:39Z</dcterms:modified>
</cp:coreProperties>
</file>
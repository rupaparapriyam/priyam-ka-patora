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1.png"/><Relationship Id="rId8" Type="http://schemas.openxmlformats.org/officeDocument/2006/relationships/image" Target="../media/image-8-1.png"/><Relationship Id="rId9" Type="http://schemas.openxmlformats.org/officeDocument/2006/relationships/image" Target="../media/image-8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3657600" cy="36576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2179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5" name="Image 0" descr="/tmp/deck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753466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6217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 for India's D2C brands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analytics built for Razorpay, WhatsApp, and Indian logistics from day one — not bolted on later.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PITCH DECK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 ·  Founder      |    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D2C brand means living in six different tabs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6" name="Image 0" descr="/tmp/deck/icons/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037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/ GA4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on-site behavior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69664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1" name="Image 1" descr="/tmp/deck/icons/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2037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&amp; Google Ads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Spend, CAC, and creative performance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90688" y="1874520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10144" y="209397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6" name="Image 2" descr="/tmp/deck/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20370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2715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010144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recovery, order updates, broadcasts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1" name="Image 3" descr="/tmp/deck/icons/pay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1970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RTO, and settlement data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169664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89120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6" name="Image 4" descr="/tmp/deck/icons/shipp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41970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38912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Shiprocket / Delhivery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COD, and returns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790688" y="3867912"/>
            <a:ext cx="3364992" cy="1737360"/>
          </a:xfrm>
          <a:prstGeom prst="roundRect">
            <a:avLst>
              <a:gd name="adj" fmla="val 6316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10144" y="40873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31" name="Image 5" descr="/tmp/deck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41970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10144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010144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all gets stitched together, manually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108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lived this firsthand running SURGE, a D2C hair-styling brand — this isn't a theory, it's a lived operating cost.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 Every channel. Plain-language answers.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pulls GA4, ad platforms, WhatsApp, Razorpay, and Indian logistics into a single view — then explains what changed and why, instead of handing back another chart.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675120" cy="1115568"/>
          </a:xfrm>
          <a:prstGeom prst="roundRect">
            <a:avLst>
              <a:gd name="adj" fmla="val 8197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302666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7" name="Image 0" descr="/tmp/deck/icons/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1363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81635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storytelling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315468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"CAC rose 18% this week because Meta creative fatigue hit your top SKU" — not just a chart.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959352"/>
            <a:ext cx="6675120" cy="1115568"/>
          </a:xfrm>
          <a:prstGeom prst="roundRect">
            <a:avLst>
              <a:gd name="adj" fmla="val 8197"/>
            </a:avLst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42885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2" name="Image 1" descr="/tmp/deck/icons/pay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43982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4078224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India-native from day one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441655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Razorpay + Shiprocket/Delhivery data — the piece every global tool is missing.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221224"/>
            <a:ext cx="6675120" cy="1115568"/>
          </a:xfrm>
          <a:prstGeom prst="roundRect">
            <a:avLst>
              <a:gd name="adj" fmla="val 8197"/>
            </a:avLst>
          </a:prstGeom>
          <a:solidFill>
            <a:srgbClr val="2F3C7E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55504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7" name="Image 2" descr="/tmp/deck/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66013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5340096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built in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567842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recovery and order-update data live in the same view as ad spend and revenue.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543800" y="1627632"/>
            <a:ext cx="4096512" cy="44348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8181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 ABOUT THE WEDGE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818120" y="22402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"plain-language insight" already exists at Polar Analytics and Lifesight — reviewer-confirmed, not a novel idea on its own.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818120" y="3246120"/>
            <a:ext cx="3291840" cy="914"/>
          </a:xfrm>
          <a:prstGeom prst="line">
            <a:avLst/>
          </a:prstGeom>
          <a:noFill/>
          <a:ln w="12700">
            <a:solidFill>
              <a:srgbClr val="E4E4E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81812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real, verified gap: zero major global tool supports Razorpay or Indian logistics natively — confirmed directly in Triple Whale's own integration docs.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7818120" y="4709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combination — cross-channel AI storytelling + India-native data, together — is the wedge, not any single piece alone.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six data sources to one plain-language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7" name="Image 0" descr="/tmp/deck/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71" y="2714671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GA4, Meta, Google Ads, WhatsApp, Razorpay, Shiprocket/Delhivery — one setup flow.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99816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10128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11296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11296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4" name="Image 1" descr="/tmp/deck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59" y="2714671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11296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11296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cross-references spend, funnel, payments, and delivery data automatically.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861304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071616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72784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72784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1" name="Image 2" descr="/tmp/deck/icons/insigh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47" y="2714671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72784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272784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findings: what changed, why, and which channel is responsible.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622792" y="33832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833104" y="201168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034272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034272" y="257860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28" name="Image 3" descr="/tmp/deck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335" y="2714671"/>
            <a:ext cx="294803" cy="29480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34272" y="331012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034272" y="3703320"/>
            <a:ext cx="2139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ranked recommendations — not just another chart to interpret yourself.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 “RTO on your Delhi-NCR COD orders jumped to 22% this week — driven almost entirely by Shiprocket’s Bluedart shipments, not Delhivery. Recommend pausing COD for Bluedart in this pincode cluster.”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fast-growing market, with software spend nobody's captured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$108.76B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D2C e-commerce market,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24.3%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2031 (Mordor Intelligence)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920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$322.1B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India D2C market by 2031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0835640" cy="2423160"/>
          </a:xfrm>
          <a:prstGeom prst="roundRect">
            <a:avLst>
              <a:gd name="adj" fmla="val 4528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SOFTWARE SPEND, NOT GMV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148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above describe the market our customers sell into — not a verified SaaS-tool spend estimate. Benchmarked against Triple Whale ($124–$375+/mo) and Putler ($20–$750/mo), a defensible entry price for the ₹10L–₹4Cr/month D2C segment is roughly $50–$300/month per brand.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3794760"/>
            <a:ext cx="914" cy="1965960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977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~800–2,500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5262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 of funded/scaling Indian D2C brands in the addressable revenue band — needs validation, not a sourced figure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Mordor Intelligence, India D2C E-commerce Market Analysis (2026). All figures beyond this are Priyam's own construction, flagged for what they are.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top-right quadrant is real — and currently empty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766560" cy="4206240"/>
          </a:xfrm>
          <a:prstGeom prst="rect">
            <a:avLst/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920240"/>
            <a:ext cx="0" cy="4206240"/>
          </a:xfrm>
          <a:prstGeom prst="line">
            <a:avLst/>
          </a:prstGeom>
          <a:noFill/>
          <a:ln w="19050">
            <a:solidFill>
              <a:srgbClr val="E4E4E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4023360"/>
            <a:ext cx="6766560" cy="0"/>
          </a:xfrm>
          <a:prstGeom prst="line">
            <a:avLst/>
          </a:prstGeom>
          <a:noFill/>
          <a:ln w="19050">
            <a:solidFill>
              <a:srgbClr val="E4E4E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15910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INSIGHT →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-105156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INDIA-NATIVE DATA →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148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Whale · Polar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7889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78892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Northbeam · Rockerbox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0" y="21488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21488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Lifesight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0" y="42062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24528" y="42062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(CRM-first)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0" y="48006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24528" y="48006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Putler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5212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521208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Daasity · Glew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9080" y="28346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06908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quadrant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MAP DOESN'T SHOW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35240" y="233172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2423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already combines WhatsApp + Shopify + Razorpay — positioned as CRM, not analytics, but worth re-checking directly before assuming an open lane.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35240" y="3630168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37216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Putler claims native Razorpay support — its own pricing page didn't list it among headline integrations when checked. Unresolved, flagged honestly.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4928616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502005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itself is building an RTO Analytics Dashboard — a real strategic risk to the payments-data layer of this product.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shifts are converging in India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860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6" name="Image 0" descr="/tmp/deck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4176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301752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is compounding at 24%+/yr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7033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D2C market is projected to nearly triple by 2031 (Mordor Intelligence) — more brands, more channels, more data to reconcile.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10" name="Shape 7"/>
          <p:cNvSpPr/>
          <p:nvPr/>
        </p:nvSpPr>
        <p:spPr>
          <a:xfrm>
            <a:off x="4462272" y="22860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1" name="Image 1" descr="/tmp/deck/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46" y="24176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62272" y="301752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just got easier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62272" y="37033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lowered its higher-access threshold from 1,500 to 500 API calls in 15 days and dropped the screen-recording requirement — a real, recent unlock.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20116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15" name="Shape 11"/>
          <p:cNvSpPr/>
          <p:nvPr/>
        </p:nvSpPr>
        <p:spPr>
          <a:xfrm>
            <a:off x="8119872" y="228600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16" name="Image 2" descr="/tmp/deck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46" y="24176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301752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creates a compliance-first opening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3703320"/>
            <a:ext cx="2916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new data law (18-month phased window) rewards a tool built India-compliant from day one, not retrofitted by a foreign vendor.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usage-tiered SaaS — priced to beat "just use spreadsheets"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1031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6888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$50/mo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₹10L/mo revenue</a:t>
            </a:r>
            <a:endParaRPr lang="en-US" sz="1150" dirty="0"/>
          </a:p>
        </p:txBody>
      </p:sp>
      <p:pic>
        <p:nvPicPr>
          <p:cNvPr id="8" name="Image 0" descr="/tmp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58444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78992" y="3529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dashboard</a:t>
            </a:r>
            <a:endParaRPr lang="en-US" sz="1150" dirty="0"/>
          </a:p>
        </p:txBody>
      </p:sp>
      <p:pic>
        <p:nvPicPr>
          <p:cNvPr id="10" name="Image 1" descr="/tmp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04164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8992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+ 1 ad platform</a:t>
            </a:r>
            <a:endParaRPr lang="en-US" sz="1150" dirty="0"/>
          </a:p>
        </p:txBody>
      </p:sp>
      <p:pic>
        <p:nvPicPr>
          <p:cNvPr id="12" name="Image 2" descr="/tmp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4988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78992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cart-recovery view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242816" y="1737360"/>
            <a:ext cx="3474720" cy="4251960"/>
          </a:xfrm>
          <a:prstGeom prst="roundRect">
            <a:avLst>
              <a:gd name="adj" fmla="val 3158"/>
            </a:avLst>
          </a:prstGeom>
          <a:solidFill>
            <a:srgbClr val="2F3C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498848" y="19659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498848" y="233172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$150/mo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4498848" y="2926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₹10L–₹1Cr/mo revenue</a:t>
            </a:r>
            <a:endParaRPr lang="en-US" sz="1150" dirty="0"/>
          </a:p>
        </p:txBody>
      </p:sp>
      <p:pic>
        <p:nvPicPr>
          <p:cNvPr id="18" name="Image 3" descr="/tmp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44728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73168" y="3392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50" dirty="0"/>
          </a:p>
        </p:txBody>
      </p:sp>
      <p:pic>
        <p:nvPicPr>
          <p:cNvPr id="20" name="Image 4" descr="/tmp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90448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773168" y="38496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+ logistics data</a:t>
            </a:r>
            <a:endParaRPr lang="en-US" sz="1150" dirty="0"/>
          </a:p>
        </p:txBody>
      </p:sp>
      <p:pic>
        <p:nvPicPr>
          <p:cNvPr id="22" name="Image 5" descr="/tmp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36168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773168" y="4306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plain-language insights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7936992" y="187452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8193024" y="210312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8193024" y="2468880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$300+/mo</a:t>
            </a:r>
            <a:endParaRPr lang="en-US" sz="2800" dirty="0"/>
          </a:p>
        </p:txBody>
      </p:sp>
      <p:sp>
        <p:nvSpPr>
          <p:cNvPr id="27" name="Text 19"/>
          <p:cNvSpPr txBox="1"/>
          <p:nvPr/>
        </p:nvSpPr>
        <p:spPr>
          <a:xfrm>
            <a:off x="8193024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₹1Cr+/mo revenue</a:t>
            </a:r>
            <a:endParaRPr lang="en-US" sz="1150" dirty="0"/>
          </a:p>
        </p:txBody>
      </p:sp>
      <p:pic>
        <p:nvPicPr>
          <p:cNvPr id="28" name="Image 6" descr="/tmp/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3584448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467344" y="3529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50" dirty="0"/>
          </a:p>
        </p:txBody>
      </p:sp>
      <p:pic>
        <p:nvPicPr>
          <p:cNvPr id="30" name="Image 7" descr="/tmp/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4041648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467344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/ multi-store</a:t>
            </a:r>
            <a:endParaRPr lang="en-US" sz="1150" dirty="0"/>
          </a:p>
        </p:txBody>
      </p:sp>
      <p:pic>
        <p:nvPicPr>
          <p:cNvPr id="32" name="Image 8" descr="/tmp/deck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4498848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467344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&amp; onboarding</a:t>
            </a:r>
            <a:endParaRPr lang="en-US" sz="1150" dirty="0"/>
          </a:p>
        </p:txBody>
      </p:sp>
      <p:sp>
        <p:nvSpPr>
          <p:cNvPr id="34" name="Text 23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Triple Whale ($124–$375+/mo, verified via G2) and Putler ($20–$750/mo, verified via own pricing page) — priced for India's thinner D2C margins.</a:t>
            </a:r>
            <a:endParaRPr lang="en-US" sz="1100" dirty="0"/>
          </a:p>
        </p:txBody>
      </p:sp>
      <p:sp>
        <p:nvSpPr>
          <p:cNvPr id="35" name="Text 2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Founder-led, then partner-led — not a paid-ads land grab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167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7" name="Image 0" descr="/tmp/deck/icons/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2276856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8096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founder outreach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324612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Priyam's own D2C network + Indian D2C founder communities — the same channel used for the validation interviews.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2569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858000" y="2167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3" name="Image 1" descr="/tmp/deck/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27685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25696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BSP partnerships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425696" y="324612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partnerships with AiSensy / Wati / Interakt — they already sit inside the same brands' stack.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63840" y="196596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8329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515600" y="21671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F3C7E"/>
          </a:solidFill>
          <a:ln/>
        </p:spPr>
      </p:sp>
      <p:pic>
        <p:nvPicPr>
          <p:cNvPr id="19" name="Image 2" descr="/tmp/deck/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227685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83296" y="274320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App Store listing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083296" y="324612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discovery channel once the core integrations (GA4, Razorpay, logistics) are live.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0835640" cy="11430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22960" y="5074920"/>
            <a:ext cx="10287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acquisition in the plan yet — deliberately. At this stage the goal is 10–20 design-partner brands who pay because the product solves a real, specific problem, not because of a marketing budget.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ACTUALLY STANDS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Pre-launch, and we're saying so plainly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7F7F6"/>
          </a:solidFill>
          <a:ln w="12700">
            <a:solidFill>
              <a:srgbClr val="E4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pic>
        <p:nvPicPr>
          <p:cNvPr id="6" name="Image 0" descr="/tmp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414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2377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competitive research across 12+ tools — pricing, integrations, and positioning verified via G2, vendor docs, and press.</a:t>
            </a:r>
            <a:endParaRPr lang="en-US" sz="1150" dirty="0"/>
          </a:p>
        </p:txBody>
      </p:sp>
      <p:pic>
        <p:nvPicPr>
          <p:cNvPr id="8" name="Image 1" descr="/tmp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55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32918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source-level technical gap: no major global tool supports Razorpay or Indian logistics natively.</a:t>
            </a:r>
            <a:endParaRPr lang="en-US" sz="1150" dirty="0"/>
          </a:p>
        </p:txBody>
      </p:sp>
      <p:pic>
        <p:nvPicPr>
          <p:cNvPr id="10" name="Image 2" descr="/tmp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7024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15568" y="42062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reality-checked: Meta/Google API access and DPDP Act compliance are real but non-blocking at MVP stage.</a:t>
            </a:r>
            <a:endParaRPr lang="en-US" sz="1150" dirty="0"/>
          </a:p>
        </p:txBody>
      </p:sp>
      <p:pic>
        <p:nvPicPr>
          <p:cNvPr id="12" name="Image 3" descr="/tmp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8464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15568" y="51206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Founder-market fit: the problem was lived firsthand running SURGE, a real D2C brand.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6035040" y="1874520"/>
            <a:ext cx="5577840" cy="4160520"/>
          </a:xfrm>
          <a:prstGeom prst="roundRect">
            <a:avLst>
              <a:gd name="adj" fmla="val 2637"/>
            </a:avLst>
          </a:prstGeom>
          <a:solidFill>
            <a:srgbClr val="F96167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630936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— AND THAT'S THE ASK</a:t>
            </a:r>
            <a:endParaRPr lang="en-US" sz="1200" dirty="0"/>
          </a:p>
        </p:txBody>
      </p:sp>
      <p:pic>
        <p:nvPicPr>
          <p:cNvPr id="16" name="Image 4" descr="/tmp/deck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46888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601968" y="240487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founder interviews conducted yet — the single most important next step, not yet done.</a:t>
            </a:r>
            <a:endParaRPr lang="en-US" sz="1150" dirty="0"/>
          </a:p>
        </p:txBody>
      </p:sp>
      <p:pic>
        <p:nvPicPr>
          <p:cNvPr id="18" name="Image 5" descr="/tmp/deck/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52044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601968" y="345643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sourced evidence (Reddit, Indie Hackers, X) of founders publicly complaining about this exact pain — an honest, unresolved gap.</a:t>
            </a:r>
            <a:endParaRPr lang="en-US" sz="1150" dirty="0"/>
          </a:p>
        </p:txBody>
      </p:sp>
      <p:pic>
        <p:nvPicPr>
          <p:cNvPr id="20" name="Image 6" descr="/tmp/deck/icons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57200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601968" y="450799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built, no design partners signed, no revenue.</a:t>
            </a:r>
            <a:endParaRPr lang="en-US" sz="1150" dirty="0"/>
          </a:p>
        </p:txBody>
      </p:sp>
      <p:sp>
        <p:nvSpPr>
          <p:cNvPr id="22" name="Text 13"/>
          <p:cNvSpPr txBox="1"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capital's first job is closing that gap: fund 30 days of direct founder conversations before a single line of production code.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4" name="Text 15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risk list, not the hidden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939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still unproven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51960" y="21305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20939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sourced founder complaints found in two research passes.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18120" y="21305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20939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structured interviews in the first 30 days, with kill criteria set in advance.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6941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could commoditize the payments layer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51960" y="37307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36941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is already building its own RTO Analytics Dashboard.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37307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6941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 cross-channel synthesis (ads + WhatsApp + logistics together), not payments data alone.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2F3C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94376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and Putler sit adjacent, not clear of us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51960" y="53309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52943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BiteSpeed already combines WhatsApp+Shopify+Razorpay; Putler claims native Razorpay support.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5330952"/>
            <a:ext cx="914" cy="1088136"/>
          </a:xfrm>
          <a:prstGeom prst="line">
            <a:avLst/>
          </a:prstGeom>
          <a:noFill/>
          <a:ln w="19050">
            <a:solidFill>
              <a:srgbClr val="3E4A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529437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both products directly pre-build; position as analytics-first where they're CRM/messaging-first.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Founder-market fit, not a resume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331720"/>
            <a:ext cx="1371600" cy="1371600"/>
          </a:xfrm>
          <a:prstGeom prst="roundRect">
            <a:avLst>
              <a:gd name="adj" fmla="val 28000"/>
            </a:avLst>
          </a:prstGeom>
          <a:solidFill>
            <a:srgbClr val="F96167"/>
          </a:solidFill>
          <a:ln/>
        </p:spPr>
      </p:sp>
      <p:pic>
        <p:nvPicPr>
          <p:cNvPr id="6" name="Image 0" descr="/tmp/deck/icons/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944" y="2660904"/>
            <a:ext cx="713232" cy="713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19659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 the problem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23774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ran SURGE, a D2C hair-styling brand — juggled the exact six-dashboard problem this product solves, firsthand.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32918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Research-first operating style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tagged verified / vendor claim / inference — the same discipline this company will run on internally.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4617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about the gap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50292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closing the biggest open risk (demand validation) before writing product code — not after raising.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Pre-seed: fund the validation, then the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$40K–$60K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pre-seed ask — placeholder, set the real number with your investors' typical check size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7223760" cy="1097280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9842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days, 20 founder interviews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774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willingness-to-pay before writing production code.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3136392"/>
            <a:ext cx="7223760" cy="1097280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3246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 (3 core integrations)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393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Razorpay + one logistics carrier — the smallest provable version of the wedge.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4398264"/>
            <a:ext cx="7223760" cy="1097280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45079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9011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paying pilot brands, priced from day one, not given away free.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931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spc="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IN 90 DAYS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Either: real, sourced evidence of willingness-to-pay from 5+ brands — or a clear, evidence-based kill decision. Both are a successful use of this capital.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HUB  ·  PRE-SEED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2026-08-29T16:52:27Z</dcterms:created>
  <dcterms:modified xsi:type="dcterms:W3CDTF">2026-08-29T16:52:27Z</dcterms:modified>
</cp:coreProperties>
</file>
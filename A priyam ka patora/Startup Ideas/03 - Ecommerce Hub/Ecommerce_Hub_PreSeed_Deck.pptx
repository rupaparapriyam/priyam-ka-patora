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India D2C market ($B)</c:v>
                </c:pt>
              </c:strCache>
            </c:strRef>
          </c:tx>
          <c:spPr>
            <a:solidFill>
              <a:srgbClr val="2F3C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C7E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108.76</c:v>
                </c:pt>
                <c:pt idx="1">
                  <c:v>135.2</c:v>
                </c:pt>
                <c:pt idx="2">
                  <c:v>168</c:v>
                </c:pt>
                <c:pt idx="3">
                  <c:v>208.8</c:v>
                </c:pt>
                <c:pt idx="4">
                  <c:v>259.6</c:v>
                </c:pt>
                <c:pt idx="5">
                  <c:v>322.1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F3C7E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4E4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6"/>
        </a:solidFill>
        <a:ln>
          <a:noFill/>
        </a:ln>
        <a:effectLst/>
      </c:spPr>
    </c:plotArea>
    <c:plotVisOnly val="1"/>
    <c:dispBlanksAs val="span"/>
  </c:chart>
  <c:spPr>
    <a:solidFill>
      <a:srgbClr val="F7F7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image" Target="../media/image-10-1.png"/><Relationship Id="rId6" Type="http://schemas.openxmlformats.org/officeDocument/2006/relationships/image" Target="../media/image-10-1.png"/><Relationship Id="rId7" Type="http://schemas.openxmlformats.org/officeDocument/2006/relationships/image" Target="../media/image-10-1.png"/><Relationship Id="rId8" Type="http://schemas.openxmlformats.org/officeDocument/2006/relationships/image" Target="../media/image-10-1.png"/><Relationship Id="rId9" Type="http://schemas.openxmlformats.org/officeDocument/2006/relationships/image" Target="../media/image-10-1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image" Target="../media/image-13-1.png"/><Relationship Id="rId6" Type="http://schemas.openxmlformats.org/officeDocument/2006/relationships/image" Target="../media/image-13-6.png"/><Relationship Id="rId7" Type="http://schemas.openxmlformats.org/officeDocument/2006/relationships/image" Target="../media/image-13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645920"/>
            <a:ext cx="5486400" cy="5486400"/>
          </a:xfrm>
          <a:prstGeom prst="ellipse">
            <a:avLst/>
          </a:prstGeom>
          <a:solidFill>
            <a:srgbClr val="2F3C7E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97680"/>
            <a:ext cx="3657600" cy="3657600"/>
          </a:xfrm>
          <a:prstGeom prst="ellipse">
            <a:avLst/>
          </a:prstGeom>
          <a:solidFill>
            <a:srgbClr val="F96167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621792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5" name="Image 0" descr="/tmp/deck/icon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753466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6217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dashboard for India's D2C brands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61188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analytics built for Razorpay, WhatsApp, and Indian logistics from day one — not bolted on later.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806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PITCH DECK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126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Priyam  ·  Founder      |     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a D2C brand means living in six different tabs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209397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6" name="Image 0" descr="/tmp/deck/icons/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203704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8096" y="27157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Analytics / GA4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and on-site behavior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169664" y="1874520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89120" y="209397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11" name="Image 1" descr="/tmp/deck/icons/a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203704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89120" y="27157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&amp; Google Ads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3891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Spend, CAC, and creative performance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790688" y="1874520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10144" y="209397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16" name="Image 2" descr="/tmp/deck/icons/ch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2203704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010144" y="27157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010144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recovery, order updates, broadcasts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867912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68096" y="40873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21" name="Image 3" descr="/tmp/deck/icons/pay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19709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68096" y="4709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Payments, RTO, and settlement data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169664" y="3867912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389120" y="40873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26" name="Image 4" descr="/tmp/deck/icons/shipp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4197096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389120" y="4709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Shiprocket / Delhivery</a:t>
            </a:r>
            <a:endParaRPr lang="en-US" sz="1450" dirty="0"/>
          </a:p>
        </p:txBody>
      </p:sp>
      <p:sp>
        <p:nvSpPr>
          <p:cNvPr id="28" name="Text 21"/>
          <p:cNvSpPr txBox="1"/>
          <p:nvPr/>
        </p:nvSpPr>
        <p:spPr>
          <a:xfrm>
            <a:off x="4389120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Delivery, COD, and returns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7790688" y="3867912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010144" y="40873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31" name="Image 5" descr="/tmp/deck/icons/searc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9872" y="4197096"/>
            <a:ext cx="237744" cy="23774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010144" y="4709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Spreadsheets</a:t>
            </a:r>
            <a:endParaRPr lang="en-US" sz="1450" dirty="0"/>
          </a:p>
        </p:txBody>
      </p:sp>
      <p:sp>
        <p:nvSpPr>
          <p:cNvPr id="33" name="Text 25"/>
          <p:cNvSpPr txBox="1"/>
          <p:nvPr/>
        </p:nvSpPr>
        <p:spPr>
          <a:xfrm>
            <a:off x="8010144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all gets stitched together, manually</a:t>
            </a:r>
            <a:endParaRPr lang="en-US" sz="115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10819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Priyam lived this firsthand running SURGE, a D2C hair-styling brand — this isn't a theory, it's a lived operating cost.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dashboard. Every channel. Plain-language answers.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pulls GA4, ad platforms, WhatsApp, Razorpay, and Indian logistics into a single view — then explains what changed and why, instead of handing back another chart.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6675120" cy="1115568"/>
          </a:xfrm>
          <a:prstGeom prst="roundRect">
            <a:avLst>
              <a:gd name="adj" fmla="val 8197"/>
            </a:avLst>
          </a:prstGeom>
          <a:solidFill>
            <a:srgbClr val="2F3C7E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3026664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7" name="Image 0" descr="/tmp/deck/icons/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3136392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2816352"/>
            <a:ext cx="5623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Cross-channel storytelling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3154680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"CAC rose 18% this week because Meta creative fatigue hit your top SKU" — not just a chart.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3959352"/>
            <a:ext cx="6675120" cy="1115568"/>
          </a:xfrm>
          <a:prstGeom prst="roundRect">
            <a:avLst>
              <a:gd name="adj" fmla="val 8197"/>
            </a:avLst>
          </a:prstGeom>
          <a:solidFill>
            <a:srgbClr val="2F3C7E"/>
          </a:solidFill>
          <a:ln/>
        </p:spPr>
      </p:sp>
      <p:sp>
        <p:nvSpPr>
          <p:cNvPr id="11" name="Shape 8"/>
          <p:cNvSpPr/>
          <p:nvPr/>
        </p:nvSpPr>
        <p:spPr>
          <a:xfrm>
            <a:off x="749808" y="428853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2" name="Image 1" descr="/tmp/deck/icons/pay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4398264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17320" y="4078224"/>
            <a:ext cx="5623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India-native from day one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4416552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Razorpay + Shiprocket/Delhivery data — the piece every global tool is missing.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5221224"/>
            <a:ext cx="6675120" cy="1115568"/>
          </a:xfrm>
          <a:prstGeom prst="roundRect">
            <a:avLst>
              <a:gd name="adj" fmla="val 8197"/>
            </a:avLst>
          </a:prstGeom>
          <a:solidFill>
            <a:srgbClr val="2F3C7E"/>
          </a:solidFill>
          <a:ln/>
        </p:spPr>
      </p:sp>
      <p:sp>
        <p:nvSpPr>
          <p:cNvPr id="16" name="Shape 12"/>
          <p:cNvSpPr/>
          <p:nvPr/>
        </p:nvSpPr>
        <p:spPr>
          <a:xfrm>
            <a:off x="749808" y="555040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7" name="Image 2" descr="/tmp/deck/icons/ch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660136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340096"/>
            <a:ext cx="5623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built in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1417320" y="5678424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recovery and order-update data live in the same view as ad spend and revenue.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543800" y="1627632"/>
            <a:ext cx="4096512" cy="4434840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7818120" y="1874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HONEST ABOUT THE WEDGE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7818120" y="22402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"plain-language insight" already exists at Polar Analytics and Lifesight — reviewer-confirmed, not a novel idea on its own.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7818120" y="3246120"/>
            <a:ext cx="3291840" cy="914"/>
          </a:xfrm>
          <a:prstGeom prst="line">
            <a:avLst/>
          </a:prstGeom>
          <a:noFill/>
          <a:ln w="12700">
            <a:solidFill>
              <a:srgbClr val="E4E4E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7818120" y="34290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real, verified gap: zero major global tool supports Razorpay or Indian logistics natively — confirmed directly in Triple Whale's own integration docs.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7818120" y="47091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combination — cross-channel AI storytelling + India-native data, together — is the wedge, not any single piece alone.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six data sources to one plain-language answer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42032" cy="3200400"/>
          </a:xfrm>
          <a:prstGeom prst="roundRect">
            <a:avLst>
              <a:gd name="adj" fmla="val 4317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1762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49808" y="2578608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7" name="Image 0" descr="/tmp/deck/icon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871" y="2714671"/>
            <a:ext cx="294803" cy="2948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331012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370332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GA4, Meta, Google Ads, WhatsApp, Razorpay, Shiprocket/Delhivery — one setup flow.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099816" y="3383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310128" y="2011680"/>
            <a:ext cx="2542032" cy="3200400"/>
          </a:xfrm>
          <a:prstGeom prst="roundRect">
            <a:avLst>
              <a:gd name="adj" fmla="val 4317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11296" y="21762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511296" y="2578608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14" name="Image 1" descr="/tmp/deck/icons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359" y="2714671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511296" y="331012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511296" y="370332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cross-references spend, funnel, payments, and delivery data automatically.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861304" y="3383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6071616" y="2011680"/>
            <a:ext cx="2542032" cy="3200400"/>
          </a:xfrm>
          <a:prstGeom prst="roundRect">
            <a:avLst>
              <a:gd name="adj" fmla="val 4317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72784" y="21762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272784" y="2578608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21" name="Image 2" descr="/tmp/deck/icons/insigh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847" y="2714671"/>
            <a:ext cx="294803" cy="29480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272784" y="331012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6272784" y="370332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findings: what changed, why, and which channel is responsible.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622792" y="3383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8833104" y="2011680"/>
            <a:ext cx="2542032" cy="3200400"/>
          </a:xfrm>
          <a:prstGeom prst="roundRect">
            <a:avLst>
              <a:gd name="adj" fmla="val 4317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034272" y="21762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9034272" y="2578608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28" name="Image 3" descr="/tmp/deck/icons/tren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0335" y="2714671"/>
            <a:ext cx="294803" cy="29480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34272" y="331012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9034272" y="370332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Specific, ranked recommendations — not just another chart to interpret yourself.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5440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output: “RTO on your Delhi-NCR COD orders jumped to 22% this week — driven almost entirely by Shiprocket’s Bluedart shipments, not Delhivery. Recommend pausing COD for Bluedart in this pincode cluster.”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dashboards: an AI trained on your business, not the whole internet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roadmap doesn't stop at plain-language answers. Once a brand's data lives in one place, the same engine can be trained specifically on that brand's own sales, inventory, and customer history — not a generic model guessing from public data.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2F3C7E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278892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7" name="Image 0" descr="/tmp/deck/icons/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92059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04672" y="3520440"/>
            <a:ext cx="2916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the business, not just the category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4297680"/>
            <a:ext cx="2916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continuously on this brand's own sales, margin, inventory, and customer data — the model gets sharper the longer a brand stays, a moat competitors can't shortcut.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06240" y="251460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2F3C7E"/>
          </a:solidFill>
          <a:ln/>
        </p:spPr>
      </p:sp>
      <p:sp>
        <p:nvSpPr>
          <p:cNvPr id="11" name="Shape 8"/>
          <p:cNvSpPr/>
          <p:nvPr/>
        </p:nvSpPr>
        <p:spPr>
          <a:xfrm>
            <a:off x="4462272" y="278892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2" name="Image 1" descr="/tmp/deck/icons/tren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946" y="292059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62272" y="3520440"/>
            <a:ext cx="2916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the next move, not just the last one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4462272" y="4297680"/>
            <a:ext cx="2916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SKUs to discount before they go stale, which channel is under-funded, which cohort is about to churn and what offer might save them — specific actions, ranked.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863840" y="251460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2F3C7E"/>
          </a:solidFill>
          <a:ln/>
        </p:spPr>
      </p:sp>
      <p:sp>
        <p:nvSpPr>
          <p:cNvPr id="16" name="Shape 12"/>
          <p:cNvSpPr/>
          <p:nvPr/>
        </p:nvSpPr>
        <p:spPr>
          <a:xfrm>
            <a:off x="8119872" y="278892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7" name="Image 2" descr="/tmp/deck/icons/insigh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1546" y="29205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119872" y="3520440"/>
            <a:ext cx="2916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growth co-pilot, not a reporting tool</a:t>
            </a:r>
            <a:endParaRPr lang="en-US" sz="1450" dirty="0"/>
          </a:p>
        </p:txBody>
      </p:sp>
      <p:sp>
        <p:nvSpPr>
          <p:cNvPr id="19" name="Text 14"/>
          <p:cNvSpPr txBox="1"/>
          <p:nvPr/>
        </p:nvSpPr>
        <p:spPr>
          <a:xfrm>
            <a:off x="8119872" y="4297680"/>
            <a:ext cx="2916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category shift this product is built toward: from "here's what happened" to "here's what to do about it, and why" — the qualitative leap that makes retention compound.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build target on the roadmap (Scale phase, see Expansion Roadmap slide), not a live feature today — flagged plainly so it reads as vision, not a claim.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 today. A market still forming, worth $8.5T globally.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74720" cy="1051560"/>
          </a:xfrm>
          <a:prstGeom prst="roundRect">
            <a:avLst>
              <a:gd name="adj" fmla="val 869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19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$108.76B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D2C market, 2026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51960" y="1645920"/>
            <a:ext cx="3474720" cy="1051560"/>
          </a:xfrm>
          <a:prstGeom prst="roundRect">
            <a:avLst>
              <a:gd name="adj" fmla="val 869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1719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24.3%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CAGR through 2031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955280" y="1645920"/>
            <a:ext cx="3474720" cy="1051560"/>
          </a:xfrm>
          <a:prstGeom prst="roundRect">
            <a:avLst>
              <a:gd name="adj" fmla="val 869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3880" y="1719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$322.1B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market, 2031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8036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04495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D2C MARKET, MODELED 2026–2031</a:t>
            </a:r>
            <a:endParaRPr lang="en-US" sz="10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731520" y="3383280"/>
          <a:ext cx="49834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777240" y="57424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from the two verified endpoints (2026, 2031) using Mordor Intelligence's 24.3% CAGR — not a year-by-year reported figure.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80760" y="2880360"/>
            <a:ext cx="5303520" cy="3246120"/>
          </a:xfrm>
          <a:prstGeom prst="roundRect">
            <a:avLst>
              <a:gd name="adj" fmla="val 3380"/>
            </a:avLst>
          </a:prstGeom>
          <a:solidFill>
            <a:srgbClr val="2F3C7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355080" y="30815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BOTTOM-UP: SOFTWARE SPEND, NOT GMV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3447288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figures above describe the market our customers sell into — not a verified SaaS-tool spend estimate. Benchmarked against Triple Whale ($124–$375+/mo) and Putler ($20–$750/mo), a defensible entry price for the ₹10L–₹4Cr/month D2C segment is roughly $50–$300/month per brand.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355080" y="4754880"/>
            <a:ext cx="4754880" cy="914"/>
          </a:xfrm>
          <a:prstGeom prst="line">
            <a:avLst/>
          </a:prstGeom>
          <a:noFill/>
          <a:ln w="12700">
            <a:solidFill>
              <a:srgbClr val="3E4A8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5080" y="4892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~800–2,500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536752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estimate of funded/scaling Indian D2C brands in the addressable revenue band — needs validation, not a sourced figure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23620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named competitors on the next slides are more than a few years old, and no single player has consolidated this category yet — in India or globally. Verified: Mordor Intelligence, India D2C E-commerce Market Analysis (2026). Global context: see the Roadmap slide.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top-right quadrant is real — and currently empty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6766560" cy="4206240"/>
          </a:xfrm>
          <a:prstGeom prst="rect">
            <a:avLst/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1920" y="1920240"/>
            <a:ext cx="0" cy="4206240"/>
          </a:xfrm>
          <a:prstGeom prst="line">
            <a:avLst/>
          </a:prstGeom>
          <a:noFill/>
          <a:ln w="19050">
            <a:solidFill>
              <a:srgbClr val="E4E4EC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48640" y="4023360"/>
            <a:ext cx="6766560" cy="0"/>
          </a:xfrm>
          <a:prstGeom prst="line">
            <a:avLst/>
          </a:prstGeom>
          <a:noFill/>
          <a:ln w="19050">
            <a:solidFill>
              <a:srgbClr val="E4E4EC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548640" y="159105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INSIGHT →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 rot="16200000">
            <a:off x="-1051560" y="2834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INDIA-NATIVE DATA →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214884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6968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Whale · Polar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278892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86968" y="278892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Northbeam · Rockerbox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0" y="214884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24528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Lifesight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0" y="420624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24528" y="42062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BiteSpeed (CRM-first)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114800" y="480060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24528" y="480060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Putler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" y="521208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6968" y="521208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Daasity · Glew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069080" y="283464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F9616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069080" y="288036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069080" y="33375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quadrant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635240" y="19202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MAP DOESN'T SHOW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35240" y="233172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18120" y="24231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BiteSpeed already combines WhatsApp + Shopify + Razorpay — positioned as CRM, not analytics, but worth re-checking directly before assuming an open lane.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635240" y="3630168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18120" y="3721608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Putler claims native Razorpay support — its own pricing page didn't list it among headline integrations when checked. Unresolved, flagged honestly.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35240" y="4928616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818120" y="5020056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itself is building an RTO Analytics Dashboard — a real strategic risk to the payments-data layer of this product.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global player is actually known for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835640" cy="402336"/>
          </a:xfrm>
          <a:prstGeom prst="roundRect">
            <a:avLst>
              <a:gd name="adj" fmla="val 13636"/>
            </a:avLst>
          </a:prstGeom>
          <a:solidFill>
            <a:srgbClr val="2F3C7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737360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737360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offering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006840" y="173736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pricing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139696"/>
            <a:ext cx="108356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4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139696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Whale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139696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Cross-channel attribution + AI assistant ("Willy")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006840" y="2139696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$124–$375+/mo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542032"/>
            <a:ext cx="10835640" cy="402336"/>
          </a:xfrm>
          <a:prstGeom prst="rect">
            <a:avLst/>
          </a:prstGeom>
          <a:solidFill>
            <a:srgbClr val="F7F7F6"/>
          </a:solidFill>
          <a:ln w="9525">
            <a:solidFill>
              <a:srgbClr val="E4E4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54203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Analytics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542032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AI-analytics, dedicated Snowflake DB per customer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006840" y="2542032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Sales-gated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944368"/>
            <a:ext cx="108356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4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2944368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Northbeam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944368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/ media-mix modeling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2944368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A, $15M raised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346704"/>
            <a:ext cx="10835640" cy="402336"/>
          </a:xfrm>
          <a:prstGeom prst="rect">
            <a:avLst/>
          </a:prstGeom>
          <a:solidFill>
            <a:srgbClr val="F7F7F6"/>
          </a:solidFill>
          <a:ln w="9525">
            <a:solidFill>
              <a:srgbClr val="E4E4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34670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Rockerbox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3346704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for larger ad-spend accounts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006840" y="3346704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G2: 4.6/5 (47 reviews)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749040"/>
            <a:ext cx="108356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4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749040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Daasity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017520" y="3749040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Omnichannel DataOps/BI (Shopify+Amazon+retail)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006840" y="374904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G2: 4.7/5 (17 reviews)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151376"/>
            <a:ext cx="10835640" cy="402336"/>
          </a:xfrm>
          <a:prstGeom prst="rect">
            <a:avLst/>
          </a:prstGeom>
          <a:solidFill>
            <a:srgbClr val="F7F7F6"/>
          </a:solidFill>
          <a:ln w="9525">
            <a:solidFill>
              <a:srgbClr val="E4E4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4151376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Glew.io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4151376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"Commerce Data Cloud", 170+ integrations claimed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006840" y="4151376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G2: 4.0/5 (57 reviews)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4553712"/>
            <a:ext cx="108356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4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55371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Lifesight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017520" y="4553712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unified marketing measurement (MMM)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9006840" y="4553712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G2: 4.2/5 (37 reviews)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" y="4956048"/>
            <a:ext cx="10835640" cy="402336"/>
          </a:xfrm>
          <a:prstGeom prst="rect">
            <a:avLst/>
          </a:prstGeom>
          <a:solidFill>
            <a:srgbClr val="F7F7F6"/>
          </a:solidFill>
          <a:ln w="9525">
            <a:solidFill>
              <a:srgbClr val="E4E4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4956048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Putler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017520" y="4956048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Multichannel BI, revenue-tiered pricing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9006840" y="4956048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$20–$750/mo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522976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player above already has a clear flagship strength — attribution, MMM, or BI. None has a data flywheel trained on each customer's own store history yet (see "What's Next"), and none natively supports Razorpay or Indian logistics.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607161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via G2 review pages and vendor pricing pages. Full methodology and per-company notes in the accompanying detailed report.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shifts are converging in India right now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2F3C7E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28600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6" name="Image 0" descr="/tmp/deck/icons/tre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4176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3017520"/>
            <a:ext cx="2916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D2C is compounding at 24%+/yr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3703320"/>
            <a:ext cx="29169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D2C market is projected to nearly triple by 2031 (Mordor Intelligence) — more brands, more channels, more data to reconcile.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06240" y="201168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2F3C7E"/>
          </a:solidFill>
          <a:ln/>
        </p:spPr>
      </p:sp>
      <p:sp>
        <p:nvSpPr>
          <p:cNvPr id="10" name="Shape 7"/>
          <p:cNvSpPr/>
          <p:nvPr/>
        </p:nvSpPr>
        <p:spPr>
          <a:xfrm>
            <a:off x="4462272" y="228600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1" name="Image 1" descr="/tmp/deck/icons/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946" y="24176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62272" y="3017520"/>
            <a:ext cx="2916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access just got easier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4462272" y="3703320"/>
            <a:ext cx="29169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lowered its higher-access threshold from 1,500 to 500 API calls in 15 days and dropped the screen-recording requirement — a real, recent unlock.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863840" y="201168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2F3C7E"/>
          </a:solidFill>
          <a:ln/>
        </p:spPr>
      </p:sp>
      <p:sp>
        <p:nvSpPr>
          <p:cNvPr id="15" name="Shape 11"/>
          <p:cNvSpPr/>
          <p:nvPr/>
        </p:nvSpPr>
        <p:spPr>
          <a:xfrm>
            <a:off x="8119872" y="228600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6" name="Image 2" descr="/tmp/deck/icons/fl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1546" y="24176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19872" y="3017520"/>
            <a:ext cx="2916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creates a compliance-first opening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8119872" y="3703320"/>
            <a:ext cx="29169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new data law (18-month phased window) rewards a tool built India-compliant from day one, not retrofitted by a foreign vendor.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Simple, usage-tiered SaaS — priced to beat "just use spreadsheets"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10312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468880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$50/mo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06324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₹10L/mo revenue</a:t>
            </a:r>
            <a:endParaRPr lang="en-US" sz="1150" dirty="0"/>
          </a:p>
        </p:txBody>
      </p:sp>
      <p:pic>
        <p:nvPicPr>
          <p:cNvPr id="8" name="Image 0" descr="/tmp/deck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3584448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78992" y="35295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dashboard</a:t>
            </a:r>
            <a:endParaRPr lang="en-US" sz="1150" dirty="0"/>
          </a:p>
        </p:txBody>
      </p:sp>
      <p:pic>
        <p:nvPicPr>
          <p:cNvPr id="10" name="Image 1" descr="/tmp/dec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041648"/>
            <a:ext cx="201168" cy="2011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8992" y="39867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+ 1 ad platform</a:t>
            </a:r>
            <a:endParaRPr lang="en-US" sz="1150" dirty="0"/>
          </a:p>
        </p:txBody>
      </p:sp>
      <p:pic>
        <p:nvPicPr>
          <p:cNvPr id="12" name="Image 2" descr="/tmp/dec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498848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78992" y="44439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cart-recovery view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4242816" y="1737360"/>
            <a:ext cx="3474720" cy="4251960"/>
          </a:xfrm>
          <a:prstGeom prst="roundRect">
            <a:avLst>
              <a:gd name="adj" fmla="val 3158"/>
            </a:avLst>
          </a:prstGeom>
          <a:solidFill>
            <a:srgbClr val="2F3C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498848" y="196596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498848" y="2331720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$150/mo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4498848" y="292608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₹10L–₹1Cr/mo revenue</a:t>
            </a:r>
            <a:endParaRPr lang="en-US" sz="1150" dirty="0"/>
          </a:p>
        </p:txBody>
      </p:sp>
      <p:pic>
        <p:nvPicPr>
          <p:cNvPr id="18" name="Image 3" descr="/tmp/dec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3447288"/>
            <a:ext cx="201168" cy="20116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773168" y="33924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Starter</a:t>
            </a:r>
            <a:endParaRPr lang="en-US" sz="1150" dirty="0"/>
          </a:p>
        </p:txBody>
      </p:sp>
      <p:pic>
        <p:nvPicPr>
          <p:cNvPr id="20" name="Image 4" descr="/tmp/deck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904488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773168" y="38496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+ logistics data</a:t>
            </a:r>
            <a:endParaRPr lang="en-US" sz="1150" dirty="0"/>
          </a:p>
        </p:txBody>
      </p:sp>
      <p:pic>
        <p:nvPicPr>
          <p:cNvPr id="22" name="Image 5" descr="/tmp/deck/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8848" y="4361688"/>
            <a:ext cx="201168" cy="20116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773168" y="43068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plain-language insights</a:t>
            </a:r>
            <a:endParaRPr lang="en-US" sz="1150" dirty="0"/>
          </a:p>
        </p:txBody>
      </p:sp>
      <p:sp>
        <p:nvSpPr>
          <p:cNvPr id="24" name="Shape 16"/>
          <p:cNvSpPr/>
          <p:nvPr/>
        </p:nvSpPr>
        <p:spPr>
          <a:xfrm>
            <a:off x="7936992" y="187452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8193024" y="210312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8193024" y="2468880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$300+/mo</a:t>
            </a:r>
            <a:endParaRPr lang="en-US" sz="2800" dirty="0"/>
          </a:p>
        </p:txBody>
      </p:sp>
      <p:sp>
        <p:nvSpPr>
          <p:cNvPr id="27" name="Text 19"/>
          <p:cNvSpPr txBox="1"/>
          <p:nvPr/>
        </p:nvSpPr>
        <p:spPr>
          <a:xfrm>
            <a:off x="8193024" y="306324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₹1Cr+/mo revenue</a:t>
            </a:r>
            <a:endParaRPr lang="en-US" sz="1150" dirty="0"/>
          </a:p>
        </p:txBody>
      </p:sp>
      <p:pic>
        <p:nvPicPr>
          <p:cNvPr id="28" name="Image 6" descr="/tmp/deck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584448"/>
            <a:ext cx="201168" cy="20116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8467344" y="35295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Growth</a:t>
            </a:r>
            <a:endParaRPr lang="en-US" sz="1150" dirty="0"/>
          </a:p>
        </p:txBody>
      </p:sp>
      <p:pic>
        <p:nvPicPr>
          <p:cNvPr id="30" name="Image 7" descr="/tmp/deck/icons/chec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3024" y="4041648"/>
            <a:ext cx="201168" cy="201168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8467344" y="39867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Multi-brand / multi-store</a:t>
            </a:r>
            <a:endParaRPr lang="en-US" sz="1150" dirty="0"/>
          </a:p>
        </p:txBody>
      </p:sp>
      <p:pic>
        <p:nvPicPr>
          <p:cNvPr id="32" name="Image 8" descr="/tmp/deck/icons/chec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3024" y="4498848"/>
            <a:ext cx="201168" cy="201168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8467344" y="44439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support &amp; onboarding</a:t>
            </a:r>
            <a:endParaRPr lang="en-US" sz="1150" dirty="0"/>
          </a:p>
        </p:txBody>
      </p:sp>
      <p:sp>
        <p:nvSpPr>
          <p:cNvPr id="34" name="Text 23"/>
          <p:cNvSpPr txBox="1"/>
          <p:nvPr/>
        </p:nvSpPr>
        <p:spPr>
          <a:xfrm>
            <a:off x="548640" y="6080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against Triple Whale ($124–$375+/mo, verified via G2) and Putler ($20–$750/mo, verified via own pricing page) — priced for India's thinner D2C margins.</a:t>
            </a:r>
            <a:endParaRPr lang="en-US" sz="1100" dirty="0"/>
          </a:p>
        </p:txBody>
      </p:sp>
      <p:sp>
        <p:nvSpPr>
          <p:cNvPr id="35" name="Text 24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36" name="Text 25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Founder-led, then partner-led — not a paid-ads land grab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2148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1671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7" name="Image 0" descr="/tmp/deck/icons/gro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28" y="2276856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68096" y="2743200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founder outreach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3246120"/>
            <a:ext cx="29900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Priyam's own D2C network + Indian D2C founder communities — the same channel used for the validation interviews.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06240" y="196596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25696" y="2148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858000" y="21671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13" name="Image 1" descr="/tmp/deck/icons/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2276856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425696" y="2743200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BSP partnerships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4425696" y="3246120"/>
            <a:ext cx="29900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partnerships with AiSensy / Wati / Interakt — they already sit inside the same brands' stack.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863840" y="196596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83296" y="2148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10515600" y="21671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19" name="Image 2" descr="/tmp/deck/icons/dash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5328" y="2276856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083296" y="2743200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Shopify App Store listing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8083296" y="3246120"/>
            <a:ext cx="29900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discovery channel once the core integrations (GA4, Razorpay, logistics) are live.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548640" y="4937760"/>
            <a:ext cx="10835640" cy="1143000"/>
          </a:xfrm>
          <a:prstGeom prst="roundRect">
            <a:avLst>
              <a:gd name="adj" fmla="val 8000"/>
            </a:avLst>
          </a:prstGeom>
          <a:solidFill>
            <a:srgbClr val="2F3C7E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22960" y="5074920"/>
            <a:ext cx="10287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paid acquisition in the plan yet — deliberately. At this stage the goal is 10–20 design-partner brands who pay because the product solves a real, specific problem, not because of a marketing budget.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ROADMAP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 first, earned — not global, assumed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D2C category is worth $8.5T in 2026, heading to $33.5T by 2033 (Grand View Research). India is the proven beachhead into that category, not its ceiling.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029968" cy="3429000"/>
          </a:xfrm>
          <a:prstGeom prst="roundRect">
            <a:avLst>
              <a:gd name="adj" fmla="val 4505"/>
            </a:avLst>
          </a:prstGeom>
          <a:solidFill>
            <a:srgbClr val="2F3C7E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4963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803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0215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Sep–Oct 2026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840480"/>
            <a:ext cx="16642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conversations already underway. 10–20 India D2C brands total. Kill criteria set, zero production code yet.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37667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RAISE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583180" y="3845052"/>
            <a:ext cx="137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724912" y="2331720"/>
            <a:ext cx="2029968" cy="3429000"/>
          </a:xfrm>
          <a:prstGeom prst="roundRect">
            <a:avLst>
              <a:gd name="adj" fmla="val 4505"/>
            </a:avLst>
          </a:prstGeom>
          <a:solidFill>
            <a:srgbClr val="2F3C7E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07792" y="24963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907792" y="28803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MVP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07792" y="350215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2026–Feb 2027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07792" y="3840480"/>
            <a:ext cx="16642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core integrations live. 5–10 paying design-partner brands.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907792" y="537667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RAISE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759452" y="3845052"/>
            <a:ext cx="137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901184" y="2331720"/>
            <a:ext cx="2029968" cy="3429000"/>
          </a:xfrm>
          <a:prstGeom prst="roundRect">
            <a:avLst>
              <a:gd name="adj" fmla="val 4505"/>
            </a:avLst>
          </a:prstGeom>
          <a:solidFill>
            <a:srgbClr val="222E5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84064" y="24963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6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084064" y="28803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Scale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084064" y="350215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H1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084064" y="3840480"/>
            <a:ext cx="16642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feature set incl. AI copilot. 30+ paying brands. Unit economics proven.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935724" y="3845052"/>
            <a:ext cx="137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077456" y="2331720"/>
            <a:ext cx="2029968" cy="3429000"/>
          </a:xfrm>
          <a:prstGeom prst="roundRect">
            <a:avLst>
              <a:gd name="adj" fmla="val 4505"/>
            </a:avLst>
          </a:prstGeom>
          <a:solidFill>
            <a:srgbClr val="222E5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260336" y="24963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6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260336" y="28803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Adjacent Market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260336" y="350215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H2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260336" y="3840480"/>
            <a:ext cx="16642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same payment-ecosystem-gap thesis in one new market (SEA or LatAm).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111996" y="3845052"/>
            <a:ext cx="137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253728" y="2331720"/>
            <a:ext cx="2029968" cy="3429000"/>
          </a:xfrm>
          <a:prstGeom prst="roundRect">
            <a:avLst>
              <a:gd name="adj" fmla="val 4505"/>
            </a:avLst>
          </a:prstGeom>
          <a:solidFill>
            <a:srgbClr val="222E5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436608" y="24963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6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436608" y="28803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Multi-Market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436608" y="350215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2028+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9436608" y="3840480"/>
            <a:ext cx="16642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proven playbook market-by-market. Global positioning, now earned.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01–02 (coral outline) are what this pre-seed round funds. Phases 03–05 are the vision this validates a path toward — not asked for today.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 TODAY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 stage, and already in motion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200" dirty="0"/>
          </a:p>
        </p:txBody>
      </p:sp>
      <p:pic>
        <p:nvPicPr>
          <p:cNvPr id="6" name="Image 0" descr="/tmp/deck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41448"/>
            <a:ext cx="201168" cy="2011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2377440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competitive research across 12+ tools — pricing, integrations, and positioning verified via G2, vendor docs, and press.</a:t>
            </a:r>
            <a:endParaRPr lang="en-US" sz="1100" dirty="0"/>
          </a:p>
        </p:txBody>
      </p:sp>
      <p:pic>
        <p:nvPicPr>
          <p:cNvPr id="8" name="Image 1" descr="/tmp/dec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00400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15568" y="3136392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Confirmed, source-level technical gap: no major global tool supports Razorpay or Indian logistics natively.</a:t>
            </a:r>
            <a:endParaRPr lang="en-US" sz="1100" dirty="0"/>
          </a:p>
        </p:txBody>
      </p:sp>
      <p:pic>
        <p:nvPicPr>
          <p:cNvPr id="10" name="Image 2" descr="/tmp/dec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959352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15568" y="3895344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reality-checked: Meta/Google API access and DPDP Act compliance are real but non-blocking at MVP stage.</a:t>
            </a:r>
            <a:endParaRPr lang="en-US" sz="1100" dirty="0"/>
          </a:p>
        </p:txBody>
      </p:sp>
      <p:pic>
        <p:nvPicPr>
          <p:cNvPr id="12" name="Image 3" descr="/tmp/dec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718304"/>
            <a:ext cx="201168" cy="20116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15568" y="4654296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Founder-market fit: the problem was lived firsthand running SURGE, a real D2C brand.</a:t>
            </a:r>
            <a:endParaRPr lang="en-US" sz="1100" dirty="0"/>
          </a:p>
        </p:txBody>
      </p:sp>
      <p:pic>
        <p:nvPicPr>
          <p:cNvPr id="14" name="Image 4" descr="/tmp/deck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5477256"/>
            <a:ext cx="201168" cy="201168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115568" y="5413248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active conversations with D2C brand founders — pressure-testing the feature set in real time and finalizing what ships first.</a:t>
            </a:r>
            <a:endParaRPr lang="en-US" sz="1100" dirty="0"/>
          </a:p>
        </p:txBody>
      </p:sp>
      <p:sp>
        <p:nvSpPr>
          <p:cNvPr id="16" name="Shape 9"/>
          <p:cNvSpPr/>
          <p:nvPr/>
        </p:nvSpPr>
        <p:spPr>
          <a:xfrm>
            <a:off x="6035040" y="1874520"/>
            <a:ext cx="5577840" cy="4343400"/>
          </a:xfrm>
          <a:prstGeom prst="roundRect">
            <a:avLst>
              <a:gd name="adj" fmla="val 2526"/>
            </a:avLst>
          </a:prstGeom>
          <a:solidFill>
            <a:srgbClr val="F96167"/>
          </a:solidFill>
          <a:ln/>
        </p:spPr>
      </p:sp>
      <p:sp>
        <p:nvSpPr>
          <p:cNvPr id="17" name="Text 10"/>
          <p:cNvSpPr txBox="1"/>
          <p:nvPr/>
        </p:nvSpPr>
        <p:spPr>
          <a:xfrm>
            <a:off x="6309360" y="20574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AHEAD — WHAT THIS RAISE COMPLETES</a:t>
            </a:r>
            <a:endParaRPr lang="en-US" sz="1150" dirty="0"/>
          </a:p>
        </p:txBody>
      </p:sp>
      <p:pic>
        <p:nvPicPr>
          <p:cNvPr id="18" name="Image 5" descr="/tmp/deck/icons/w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2532888"/>
            <a:ext cx="201168" cy="20116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6601968" y="246888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conversations are ongoing, not yet concluded — kill criteria for a clear go/no-go are set in advance, not decided after the fact.</a:t>
            </a:r>
            <a:endParaRPr lang="en-US" sz="1200" dirty="0"/>
          </a:p>
        </p:txBody>
      </p:sp>
      <p:pic>
        <p:nvPicPr>
          <p:cNvPr id="20" name="Image 6" descr="/tmp/deck/icons/warn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3904488"/>
            <a:ext cx="201168" cy="201168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601968" y="384048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 built yet, no design partners signed, no revenue — the next 90 days change that.</a:t>
            </a:r>
            <a:endParaRPr lang="en-US" sz="1200" dirty="0"/>
          </a:p>
        </p:txBody>
      </p:sp>
      <p:sp>
        <p:nvSpPr>
          <p:cNvPr id="22" name="Text 13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raise funds the next 90 days: completing that founder validation loop, shipping the MVP's 3 core integrations, and reaching 5–10 paying design-partner brands.</a:t>
            </a:r>
            <a:endParaRPr lang="en-US" sz="1150" dirty="0"/>
          </a:p>
        </p:txBody>
      </p:sp>
      <p:sp>
        <p:nvSpPr>
          <p:cNvPr id="23" name="Text 14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4" name="Text 15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risk list, not the hidden 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2F3C7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939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is still unproven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251960" y="21305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80560" y="20939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sourced founder complaints found in two research passes.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818120" y="21305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0" y="20939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 structured interviews in the first 30 days, with kill criteria set in advance.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2F3C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941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could commoditize the payments layer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251960" y="37307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0560" y="36941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is already building its own RTO Analytics Dashboard.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37307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0" y="36941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 on cross-channel synthesis (ads + WhatsApp + logistics together), not payments data alone.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16636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2F3C7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2943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BiteSpeed and Putler sit adjacent, not clear of us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251960" y="53309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80560" y="52943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BiteSpeed already combines WhatsApp+Shopify+Razorpay; Putler claims native Razorpay support.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818120" y="53309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46720" y="52943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both products directly pre-build; position as analytics-first where they're CRM/messaging-first.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Founder-market fit, not a resume slide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2F3C7E"/>
          </a:solidFill>
          <a:ln/>
        </p:spPr>
      </p:sp>
      <p:sp>
        <p:nvSpPr>
          <p:cNvPr id="5" name="Shape 3"/>
          <p:cNvSpPr/>
          <p:nvPr/>
        </p:nvSpPr>
        <p:spPr>
          <a:xfrm>
            <a:off x="1508760" y="2331720"/>
            <a:ext cx="1371600" cy="13716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6" name="Image 0" descr="/tmp/deck/icons/gro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7944" y="2660904"/>
            <a:ext cx="713232" cy="713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Priyam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160520" y="19659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 the problem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23774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ran SURGE, a D2C hair-styling brand — juggled the exact six-dashboard problem this product solves, firsthand.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160520" y="329184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Research-first operating style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160520" y="370332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in this deck is tagged verified / vendor claim / inference — the same discipline this company will run on internally.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160520" y="461772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the field, not waiting for funding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160520" y="502920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conversations with D2C brands are underway now, ahead of any code being written — this raise completes that loop, it doesn't start it.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2F3C7E">
              <a:alpha val="5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Pre-seed: fund the validation, then the build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9616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$40K–$60K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FF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round, sized to fund 90 days of validation and MVP build — not a broader growth round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1874520"/>
            <a:ext cx="7223760" cy="1097280"/>
          </a:xfrm>
          <a:prstGeom prst="roundRect">
            <a:avLst>
              <a:gd name="adj" fmla="val 8333"/>
            </a:avLst>
          </a:prstGeom>
          <a:solidFill>
            <a:srgbClr val="2F3C7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63440" y="198424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founder validation loop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37744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underway — this funds it through to a clear go/no-go before writing production code.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34840" y="3136392"/>
            <a:ext cx="7223760" cy="1097280"/>
          </a:xfrm>
          <a:prstGeom prst="roundRect">
            <a:avLst>
              <a:gd name="adj" fmla="val 8333"/>
            </a:avLst>
          </a:prstGeom>
          <a:solidFill>
            <a:srgbClr val="2F3C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63440" y="32461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build (3 core integrations)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639312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+ Razorpay + one logistics carrier — the smallest provable version of the wedge.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34840" y="4398264"/>
            <a:ext cx="7223760" cy="1097280"/>
          </a:xfrm>
          <a:prstGeom prst="roundRect">
            <a:avLst>
              <a:gd name="adj" fmla="val 8333"/>
            </a:avLst>
          </a:prstGeom>
          <a:solidFill>
            <a:srgbClr val="2F3C7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63440" y="4507992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Design-partner pilots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4901184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paying pilot brands, priced from day one, not given away free.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2F3C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3931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spc="5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SUCCESS LOOKS LIKE IN 90 DAYS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5262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Either: real, sourced evidence of willingness-to-pay from 5+ brands — or a clear, evidence-based kill decision. Both are a successful use of this capital.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2026-08-29T17:40:21Z</dcterms:created>
  <dcterms:modified xsi:type="dcterms:W3CDTF">2026-08-29T17:40:21Z</dcterms:modified>
</cp:coreProperties>
</file>
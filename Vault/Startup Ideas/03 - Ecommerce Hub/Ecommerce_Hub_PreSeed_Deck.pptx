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D2C market ($B)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F3C7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108.76</c:v>
                </c:pt>
                <c:pt idx="1">
                  <c:v>135.2</c:v>
                </c:pt>
                <c:pt idx="2">
                  <c:v>168</c:v>
                </c:pt>
                <c:pt idx="3">
                  <c:v>208.8</c:v>
                </c:pt>
                <c:pt idx="4">
                  <c:v>259.6</c:v>
                </c:pt>
                <c:pt idx="5">
                  <c:v>322.1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F3C7E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6"/>
        </a:solidFill>
        <a:ln>
          <a:noFill/>
        </a:ln>
        <a:effectLst/>
      </c:spPr>
    </c:plotArea>
    <c:plotVisOnly val="1"/>
    <c:dispBlanksAs val="span"/>
  </c:chart>
  <c:spPr>
    <a:solidFill>
      <a:srgbClr val="F7F7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image" Target="../media/image-12-1.png"/><Relationship Id="rId9" Type="http://schemas.openxmlformats.org/officeDocument/2006/relationships/image" Target="../media/image-12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6.png"/><Relationship Id="rId7" Type="http://schemas.openxmlformats.org/officeDocument/2006/relationships/image" Target="../media/image-1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657600" cy="36576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2179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5" name="Image 0" descr="/tmp/deck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753466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6217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 for India's D2C brands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analytics built for India's payment gateways, WhatsApp, and logistics carriers from day one — not bolted on later.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PITCH DECK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 ·  Founder      |    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D2C brand means living in six different tabs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6" name="Image 0" descr="/tmp/deck/icons/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037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/ GA4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on-site behavior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9664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1" name="Image 1" descr="/tmp/deck/icons/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2037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&amp; Google Ads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Spend, CAC, and creative performance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90688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10144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6" name="Image 2" descr="/tmp/deck/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20370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010144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AiSensy, Wati, Interakt — cart recovery, order updates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1" name="Image 3" descr="/tmp/deck/icons/pay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1970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Razorpay, Cashfree, PayU — settlement and RTO data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169664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89120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6" name="Image 4" descr="/tmp/deck/icons/shipp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1970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38912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Shiprocket, Delhivery, XpressBees — delivery and returns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90688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10144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31" name="Image 5" descr="/tmp/deck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41970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10144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010144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all gets stitched together, manually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108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lived this firsthand running SURGE, a D2C hair-styling brand — this isn't a theory, it's a lived operating cost.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 Every channel. Plain-language answers.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pulls GA4, ad platforms, WhatsApp, India's payment gateways, and logistics carriers into a single view — then explains what changed and why, instead of handing back another chart.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675120" cy="1115568"/>
          </a:xfrm>
          <a:prstGeom prst="roundRect">
            <a:avLst>
              <a:gd name="adj" fmla="val 8197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30266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7" name="Image 0" descr="/tmp/deck/icons/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1363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81635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storytelling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315468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"CAC rose 18% this week because Meta creative fatigue hit your top SKU" — not just a chart.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959352"/>
            <a:ext cx="6675120" cy="1115568"/>
          </a:xfrm>
          <a:prstGeom prst="roundRect">
            <a:avLst>
              <a:gd name="adj" fmla="val 8197"/>
            </a:avLst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42885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2" name="Image 1" descr="/tmp/deck/icons/pay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43982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407822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India-native from day one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441655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data from Razorpay, Cashfree, PayU, Shiprocket, Delhivery, and XpressBees — the piece every global tool is missing.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221224"/>
            <a:ext cx="6675120" cy="1115568"/>
          </a:xfrm>
          <a:prstGeom prst="roundRect">
            <a:avLst>
              <a:gd name="adj" fmla="val 8197"/>
            </a:avLst>
          </a:prstGeom>
          <a:solidFill>
            <a:srgbClr val="2F3C7E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5550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7" name="Image 2" descr="/tmp/deck/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66013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534009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built in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567842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recovery and order-update data live in the same view as ad spend and revenue.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543800" y="1627632"/>
            <a:ext cx="4096512" cy="44348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8181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THE WEDGE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818120" y="2240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"plain-language insight" already exists at Polar Analytics and Lifesight — reviewer-confirmed, not a novel idea on its own.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818120" y="3246120"/>
            <a:ext cx="3291840" cy="914"/>
          </a:xfrm>
          <a:prstGeom prst="line">
            <a:avLst/>
          </a:prstGeom>
          <a:noFill/>
          <a:ln w="12700">
            <a:solidFill>
              <a:srgbClr val="E4E4E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81812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real, verified gap: zero major global tool supports Razorpay, Cashfree, or Indian logistics carriers natively — confirmed directly in Triple Whale's own integration docs.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7818120" y="4709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combination — cross-channel AI storytelling + India-native data, together — is the wedge, not any single piece alone.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six data sources to one plain-language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7" name="Image 0" descr="/tmp/deck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2714671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GA4, Meta/Google Ads, WhatsApp, India's leading payment gateways and logistics carriers — one setup flow. Full connector list on the next slide.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99816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10128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11296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11296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4" name="Image 1" descr="/tmp/deck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59" y="2714671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11296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11296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cross-references spend, funnel, payments, and delivery data automatically.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861304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71616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72784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72784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1" name="Image 2" descr="/tmp/deck/icons/insigh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47" y="2714671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72784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272784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findings: what changed, why, and which channel is responsible.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622792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833104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034272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034272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8" name="Image 3" descr="/tmp/deck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335" y="2714671"/>
            <a:ext cx="294803" cy="29480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34272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034272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ranked recommendations — not just another chart to interpret yourself.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 “RTO on your Delhi-NCR COD orders jumped to 22% this week — driven almost entirely by Shiprocket’s Bluedart shipments, not Delhivery. Recommend pausing COD for Bluedart in this pincode cluster.”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Razorpay — the full connector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6" name="Image 0" descr="/tmp/deck/icons/pay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037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Razorpay, Cashfree, PayU, PhonePe PG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9664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1" name="Image 1" descr="/tmp/deck/icons/shi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2037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shipping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Shiprocket, Delhivery, XpressBees, Ecom Express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90688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10144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6" name="Image 2" descr="/tmp/deck/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20370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BSPs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010144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AiSensy, Wati, Interakt, Gupshup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21" name="Image 3" descr="/tmp/deck/icons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1970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&amp; OMS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Shopify, WooCommerce, Unicommerce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169664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89120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26" name="Image 4" descr="/tmp/deck/icons/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1970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38912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Flipkart, Myntra, Nykaa, Meesho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90688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10144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31" name="Image 5" descr="/tmp/deck/icons/ad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41970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10144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analytics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010144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Ads, Google Ads, GA4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108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(this raise) ships GA4 + one payment gateway + one logistics carrier first — this is the full category map the product expands into as it scales, not day-one scope.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CONSOLIDATE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subscriptions become one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D2C brand today pays separately for an analytics tool, a WhatsApp automation tool, an email/SMS tool, a payments dashboard, a logistics dashboard, a warehouse/inventory monitor, and several marketplace-specific panels — 8 or more tools just to run one storefront.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04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8+ SEPARATE SUBSCRIPTIONS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816352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" y="269748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Web/app analytics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145536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302666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tool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335584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automation tool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803904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368503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133088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4014216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/ shipping dashboard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462272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434340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inventory &amp; monitoring 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791456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467258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panels (Amazon, Flipkart, Myntra...)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82296" cy="8229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4128" y="500176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campaign reporting tool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24028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2F3C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253288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25" name="Image 0" descr="/tmp/deck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4" y="2664562"/>
            <a:ext cx="285293" cy="285293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315200" y="2606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Ecommerce Hub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One bill. One dashboard.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3474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on the left, reconciled in one place — the same data, cross-referenced together instead of checked one tool at a time.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83680" y="4343400"/>
            <a:ext cx="4754880" cy="914"/>
          </a:xfrm>
          <a:prstGeom prst="line">
            <a:avLst/>
          </a:prstGeom>
          <a:noFill/>
          <a:ln w="12700">
            <a:solidFill>
              <a:srgbClr val="3E4A8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0" y="450799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replaced by one dashboard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567842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becoming a payments or logistics company: we connect to your existing payment gateway, logistics provider, and marketplaces as-is. WhatsApp automation, email/SMS automation, and warehouse monitoring are built in-house, natively inside the dashboard — not resold third-party widgets.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dashboards: an AI trained on your business, not the whole internet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doesn't stop at plain-language answers. Once a brand's data lives in one place, the same engine can be trained specifically on that brand's own sales, inventory, and customer history — not a generic model guessing from public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7889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7" name="Image 0" descr="/tmp/deck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9205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35204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business, not just the category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429768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continuously on this brand's own sales, margin, inventory, and customer data — the model gets sharper the longer a brand stays, a moat competitors can't shortcut.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25146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4462272" y="27889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2" name="Image 1" descr="/tmp/deck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46" y="29205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62272" y="35204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next move, not just the last one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462272" y="429768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SKUs to discount before they go stale, which channel is under-funded, which cohort is about to churn and what offer might save them — specific actions, ranked.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63840" y="251460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2F3C7E"/>
          </a:solidFill>
          <a:ln/>
        </p:spPr>
      </p:sp>
      <p:sp>
        <p:nvSpPr>
          <p:cNvPr id="16" name="Shape 12"/>
          <p:cNvSpPr/>
          <p:nvPr/>
        </p:nvSpPr>
        <p:spPr>
          <a:xfrm>
            <a:off x="8119872" y="27889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7" name="Image 2" descr="/tmp/deck/icons/insigh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46" y="29205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19872" y="352044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growth co-pilot, not a reporting tool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119872" y="429768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shift this product is built toward: from "here's what happened" to "here's what to do about it, and why" — the qualitative leap that makes retention compound.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build target on the roadmap (Scale phase, see Expansion Roadmap slide), not a live feature today — flagged plainly so it reads as vision, not a claim.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today. A market still forming, worth $8.5T globally.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$108.76B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D2C market,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24.3%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CAGR through 2031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719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$322.1B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market, 2031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449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D2C MARKET, MODELED 2026–2031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31520" y="3383280"/>
          <a:ext cx="4983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77240" y="57424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from the two verified endpoints (2026, 2031) using Mordor Intelligence's 24.3% CAGR — not a year-by-year reported figure.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80760" y="2880360"/>
            <a:ext cx="5303520" cy="3246120"/>
          </a:xfrm>
          <a:prstGeom prst="roundRect">
            <a:avLst>
              <a:gd name="adj" fmla="val 3380"/>
            </a:avLst>
          </a:prstGeom>
          <a:solidFill>
            <a:srgbClr val="2F3C7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55080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SOFTWARE SPEND, NOT GMV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344728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above describe the market our customers sell into — not a verified SaaS-tool spend estimate. Triple Whale and Putler's own published tiers give a rough sense of what comparable tools charge; our own pricing isn't set yet — it's one of the things the founder conversations in progress are meant to settle.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55080" y="4754880"/>
            <a:ext cx="4754880" cy="914"/>
          </a:xfrm>
          <a:prstGeom prst="line">
            <a:avLst/>
          </a:prstGeom>
          <a:noFill/>
          <a:ln w="12700">
            <a:solidFill>
              <a:srgbClr val="3E4A8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~800–2,500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53675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 of funded/scaling Indian D2C brands in the addressable revenue band — needs validation, not a sourced figure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2362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named competitors on the next slides are more than a few years old, and no single player has consolidated this category yet — in India or globally. Verified: Mordor Intelligence, India D2C E-commerce Market Analysis (2026). Global context: see the Roadmap slide.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top-right quadrant is real — and currently empty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766560" cy="4206240"/>
          </a:xfrm>
          <a:prstGeom prst="rect">
            <a:avLst/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920240"/>
            <a:ext cx="0" cy="4206240"/>
          </a:xfrm>
          <a:prstGeom prst="line">
            <a:avLst/>
          </a:prstGeom>
          <a:noFill/>
          <a:ln w="19050">
            <a:solidFill>
              <a:srgbClr val="E4E4E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4023360"/>
            <a:ext cx="6766560" cy="0"/>
          </a:xfrm>
          <a:prstGeom prst="line">
            <a:avLst/>
          </a:prstGeom>
          <a:noFill/>
          <a:ln w="19050">
            <a:solidFill>
              <a:srgbClr val="E4E4E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15910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INSIGHT →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-105156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INDIA-NATIVE DATA →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148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Whale · Polar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7889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78892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Northbeam · Rockerbox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21488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2148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Lifesight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0" y="42062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2452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(CRM-first)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0" y="48006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24528" y="48006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Putler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5212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5212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Daasity · Glew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9080" y="28346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06908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quadrant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MAP DOESN'T SHOW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35240" y="2331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2423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already combines WhatsApp + Shopify + Razorpay — positioned as CRM, not analytics, but worth re-checking directly before assuming an open lane.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35240" y="36301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37216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Putler claims native Razorpay support — its own pricing page didn't list it among headline integrations when checked. Unresolved, flagged honestly.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492861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502005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itself is building an RTO Analytics Dashboard — a real strategic risk to the payments-data layer of this product.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global player is actually known for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35640" cy="402336"/>
          </a:xfrm>
          <a:prstGeom prst="roundRect">
            <a:avLst>
              <a:gd name="adj" fmla="val 13636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37360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offering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06840" y="1737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pricing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3969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13969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Whale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139696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attribution + AI assistant ("Willy")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1396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$124–$375+/mo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10835640" cy="402336"/>
          </a:xfrm>
          <a:prstGeom prst="rect">
            <a:avLst/>
          </a:prstGeom>
          <a:solidFill>
            <a:srgbClr val="F7F7F6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420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Analytics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542032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AI-analytics, dedicated Snowflake DB per customer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5420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Sales-gated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4436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94436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Northbeam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944368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/ media-mix modeling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9443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A, $15M raised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10835640" cy="402336"/>
          </a:xfrm>
          <a:prstGeom prst="rect">
            <a:avLst/>
          </a:prstGeom>
          <a:solidFill>
            <a:srgbClr val="F7F7F6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34670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Rockerbox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34670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for larger ad-spend accounts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3467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G2: 4.6/5 (47 reviews)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7490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Daasity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3749040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DataOps/BI (Shopify+Amazon+retail)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37490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G2: 4.7/5 (17 reviews)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51376"/>
            <a:ext cx="10835640" cy="402336"/>
          </a:xfrm>
          <a:prstGeom prst="rect">
            <a:avLst/>
          </a:prstGeom>
          <a:solidFill>
            <a:srgbClr val="F7F7F6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1513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Glew.io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4151376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"Commerce Data Cloud", 170+ integrations claimed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006840" y="41513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G2: 4.0/5 (57 reviews)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553712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55371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Lifesight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017520" y="4553712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unified marketing measurement (MMM)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006840" y="455371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G2: 4.2/5 (37 reviews)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956048"/>
            <a:ext cx="10835640" cy="402336"/>
          </a:xfrm>
          <a:prstGeom prst="rect">
            <a:avLst/>
          </a:prstGeom>
          <a:solidFill>
            <a:srgbClr val="F7F7F6"/>
          </a:solidFill>
          <a:ln w="9525">
            <a:solidFill>
              <a:srgbClr val="E4E4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9560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Putler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017520" y="4956048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Multichannel BI, revenue-tiered pricing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006840" y="495604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$20–$750/mo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52297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above already has a clear flagship strength — attribution, MMM, or BI. None has a data flywheel trained on each customer's own store history yet (see "What's Next"), and none natively supports Razorpay or Indian logistics.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07161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via G2 review pages and vendor pricing pages. Full methodology and per-company notes in the accompanying detailed report.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shifts are converging in India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860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6" name="Image 0" descr="/tmp/deck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4176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301752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is compounding at 24%+/yr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033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D2C market is projected to nearly triple by 2031 (Mordor Intelligence) — more brands, more channels, more data to reconcile.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10" name="Shape 7"/>
          <p:cNvSpPr/>
          <p:nvPr/>
        </p:nvSpPr>
        <p:spPr>
          <a:xfrm>
            <a:off x="4462272" y="22860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1" name="Image 1" descr="/tmp/deck/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46" y="24176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62272" y="301752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just got easier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62272" y="37033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lowered its higher-access threshold from 1,500 to 500 API calls in 15 days and dropped the screen-recording requirement — a real, recent unlock.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19872" y="22860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6" name="Image 2" descr="/tmp/deck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46" y="24176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301752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creates a compliance-first opening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37033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new data law (18-month phased window) rewards a tool built India-compliant from day one, not retrofitted by a foreign vendor.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usage-tiered SaaS — pricing set with design partners, not guessed up front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1031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688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FINALIZING WITH DESIGN PARTNERS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₹10L/mo revenue</a:t>
            </a:r>
            <a:endParaRPr lang="en-US" sz="1150" dirty="0"/>
          </a:p>
        </p:txBody>
      </p:sp>
      <p:pic>
        <p:nvPicPr>
          <p:cNvPr id="8" name="Image 0" descr="/tmp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58444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8992" y="3529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dashboard</a:t>
            </a:r>
            <a:endParaRPr lang="en-US" sz="1150" dirty="0"/>
          </a:p>
        </p:txBody>
      </p:sp>
      <p:pic>
        <p:nvPicPr>
          <p:cNvPr id="10" name="Image 1" descr="/tmp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04164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8992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+ 1 ad platform</a:t>
            </a:r>
            <a:endParaRPr lang="en-US" sz="1150" dirty="0"/>
          </a:p>
        </p:txBody>
      </p:sp>
      <p:pic>
        <p:nvPicPr>
          <p:cNvPr id="12" name="Image 2" descr="/tmp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4988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78992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cart-recovery view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242816" y="1737360"/>
            <a:ext cx="3474720" cy="4251960"/>
          </a:xfrm>
          <a:prstGeom prst="roundRect">
            <a:avLst>
              <a:gd name="adj" fmla="val 3158"/>
            </a:avLst>
          </a:prstGeom>
          <a:solidFill>
            <a:srgbClr val="2F3C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498848" y="19659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498848" y="233172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FINALIZING WITH DESIGN PARTNERS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498848" y="2926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₹10L–₹1Cr/mo revenue</a:t>
            </a:r>
            <a:endParaRPr lang="en-US" sz="1150" dirty="0"/>
          </a:p>
        </p:txBody>
      </p:sp>
      <p:pic>
        <p:nvPicPr>
          <p:cNvPr id="18" name="Image 3" descr="/tmp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44728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73168" y="3392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50" dirty="0"/>
          </a:p>
        </p:txBody>
      </p:sp>
      <p:pic>
        <p:nvPicPr>
          <p:cNvPr id="20" name="Image 4" descr="/tmp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90448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773168" y="3849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logistics data</a:t>
            </a:r>
            <a:endParaRPr lang="en-US" sz="1150" dirty="0"/>
          </a:p>
        </p:txBody>
      </p:sp>
      <p:pic>
        <p:nvPicPr>
          <p:cNvPr id="22" name="Image 5" descr="/tmp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36168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773168" y="4306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plain-language insights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7936992" y="187452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8193024" y="21031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8193024" y="24688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FINALIZING WITH DESIGN PARTNERS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8193024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₹1Cr+/mo revenue</a:t>
            </a:r>
            <a:endParaRPr lang="en-US" sz="1150" dirty="0"/>
          </a:p>
        </p:txBody>
      </p:sp>
      <p:pic>
        <p:nvPicPr>
          <p:cNvPr id="28" name="Image 6" descr="/tmp/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3584448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467344" y="3529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50" dirty="0"/>
          </a:p>
        </p:txBody>
      </p:sp>
      <p:pic>
        <p:nvPicPr>
          <p:cNvPr id="30" name="Image 7" descr="/tmp/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4041648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467344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/ multi-store</a:t>
            </a:r>
            <a:endParaRPr lang="en-US" sz="1150" dirty="0"/>
          </a:p>
        </p:txBody>
      </p:sp>
      <p:pic>
        <p:nvPicPr>
          <p:cNvPr id="32" name="Image 8" descr="/tmp/deck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4498848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467344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&amp; onboarding</a:t>
            </a:r>
            <a:endParaRPr lang="en-US" sz="1150" dirty="0"/>
          </a:p>
        </p:txBody>
      </p:sp>
      <p:sp>
        <p:nvSpPr>
          <p:cNvPr id="34" name="Text 23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Whale and Putler's own published tiers give a rough comparable range — our own numbers aren't set yet, deliberately: the founder conversations already underway are meant to pressure-test willingness-to-pay before a price is locked in.</a:t>
            </a:r>
            <a:endParaRPr lang="en-US" sz="1100" dirty="0"/>
          </a:p>
        </p:txBody>
      </p:sp>
      <p:sp>
        <p:nvSpPr>
          <p:cNvPr id="35" name="Text 2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Founder-led, then partner-led — not a paid-ads land grab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167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7" name="Image 0" descr="/tmp/deck/icons/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22768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8096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founder outreach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324612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Priyam's own D2C network + Indian D2C founder communities — the same channel used for the validation interviews.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2569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858000" y="2167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3" name="Image 1" descr="/tmp/deck/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27685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25696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BSP partnerships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425696" y="324612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partnerships with AiSensy / Wati / Interakt — they already sit inside the same brands' stack.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6384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8329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515600" y="2167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9" name="Image 2" descr="/tmp/deck/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227685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83296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App Store listing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083296" y="324612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discovery channel once the core integrations (GA4, a payment gateway, a logistics carrier) are live.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0835640" cy="11430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2960" y="5074920"/>
            <a:ext cx="10287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acquisition in the plan yet — deliberately. At this stage the goal is 10–20 design-partner brands who pay because the product solves a real, specific problem, not because of a marketing budget.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first, earned — not global, assumed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D2C category is worth $8.5T in 2026, heading to $33.5T by 2033 (Grand View Research). India is the proven beachhead into that category, not its ceiling.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29968" cy="3429000"/>
          </a:xfrm>
          <a:prstGeom prst="roundRect">
            <a:avLst>
              <a:gd name="adj" fmla="val 4505"/>
            </a:avLst>
          </a:prstGeom>
          <a:solidFill>
            <a:srgbClr val="2F3C7E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021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2026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4048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conversations already underway. 10–20 India D2C brands total. Kill criteria set, zero production code yet.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766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583180" y="384505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24912" y="2331720"/>
            <a:ext cx="2029968" cy="3429000"/>
          </a:xfrm>
          <a:prstGeom prst="roundRect">
            <a:avLst>
              <a:gd name="adj" fmla="val 4505"/>
            </a:avLst>
          </a:prstGeom>
          <a:solidFill>
            <a:srgbClr val="2F3C7E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MVP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07792" y="35021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2026–Feb 2027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07792" y="384048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integrations live. 5–10 paying design-partner brands.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907792" y="53766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759452" y="384505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01184" y="2331720"/>
            <a:ext cx="2029968" cy="3429000"/>
          </a:xfrm>
          <a:prstGeom prst="roundRect">
            <a:avLst>
              <a:gd name="adj" fmla="val 4505"/>
            </a:avLst>
          </a:prstGeom>
          <a:solidFill>
            <a:srgbClr val="222E5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84064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084064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Scale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84064" y="35021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84064" y="384048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 incl. AI copilot. 30+ paying brands. Unit economics proven.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35724" y="384505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77456" y="2331720"/>
            <a:ext cx="2029968" cy="3429000"/>
          </a:xfrm>
          <a:prstGeom prst="roundRect">
            <a:avLst>
              <a:gd name="adj" fmla="val 4505"/>
            </a:avLst>
          </a:prstGeom>
          <a:solidFill>
            <a:srgbClr val="222E5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60336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60336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Adjacent Market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260336" y="35021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260336" y="384048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same payment-ecosystem-gap thesis in one new market (SEA or LatAm).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111996" y="384505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53728" y="2331720"/>
            <a:ext cx="2029968" cy="3429000"/>
          </a:xfrm>
          <a:prstGeom prst="roundRect">
            <a:avLst>
              <a:gd name="adj" fmla="val 4505"/>
            </a:avLst>
          </a:prstGeom>
          <a:solidFill>
            <a:srgbClr val="222E5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36608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436608" y="288036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36608" y="35021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436608" y="384048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proven playbook market-by-market. Global positioning, now earned.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01–02 (coral outline) are what this pre-seed round funds. Phases 03–05 are the vision this validates a path toward — not asked for today.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stage, and already in 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pic>
        <p:nvPicPr>
          <p:cNvPr id="6" name="Image 0" descr="/tmp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414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2377440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competitive research across 12+ tools — pricing, integrations, and positioning verified via G2, vendor docs, and press.</a:t>
            </a:r>
            <a:endParaRPr lang="en-US" sz="1100" dirty="0"/>
          </a:p>
        </p:txBody>
      </p:sp>
      <p:pic>
        <p:nvPicPr>
          <p:cNvPr id="8" name="Image 1" descr="/tmp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3136392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source-level technical gap: no major global tool supports Razorpay or Indian logistics natively.</a:t>
            </a:r>
            <a:endParaRPr lang="en-US" sz="1100" dirty="0"/>
          </a:p>
        </p:txBody>
      </p:sp>
      <p:pic>
        <p:nvPicPr>
          <p:cNvPr id="10" name="Image 2" descr="/tmp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935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15568" y="3895344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reality-checked: Meta/Google API access and DPDP Act compliance are real but non-blocking at MVP stage.</a:t>
            </a:r>
            <a:endParaRPr lang="en-US" sz="1100" dirty="0"/>
          </a:p>
        </p:txBody>
      </p:sp>
      <p:pic>
        <p:nvPicPr>
          <p:cNvPr id="12" name="Image 3" descr="/tmp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1830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15568" y="4654296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Founder-market fit: the problem was lived firsthand running SURGE, a real D2C brand.</a:t>
            </a:r>
            <a:endParaRPr lang="en-US" sz="1100" dirty="0"/>
          </a:p>
        </p:txBody>
      </p:sp>
      <p:pic>
        <p:nvPicPr>
          <p:cNvPr id="14" name="Image 4" descr="/tmp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7725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15568" y="541324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active conversations with D2C brand founders — pressure-testing the feature set in real time and finalizing what ships first.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2526"/>
            </a:avLst>
          </a:prstGeom>
          <a:solidFill>
            <a:srgbClr val="F96167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6309360" y="2057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AHEAD — WHAT THIS RAISE COMPLETES</a:t>
            </a:r>
            <a:endParaRPr lang="en-US" sz="1150" dirty="0"/>
          </a:p>
        </p:txBody>
      </p:sp>
      <p:pic>
        <p:nvPicPr>
          <p:cNvPr id="18" name="Image 5" descr="/tmp/deck/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532888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601968" y="2468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conversations are ongoing, not yet concluded — kill criteria for a clear go/no-go are set in advance, not decided after the fact.</a:t>
            </a:r>
            <a:endParaRPr lang="en-US" sz="1200" dirty="0"/>
          </a:p>
        </p:txBody>
      </p:sp>
      <p:pic>
        <p:nvPicPr>
          <p:cNvPr id="20" name="Image 6" descr="/tmp/deck/icons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90448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601968" y="38404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built yet, no design partners signed, no revenue — the next 90 days change that.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 funds the next 90 days: completing that founder validation loop, shipping the MVP's 3 core integrations, and reaching 5–10 paying design-partner brands.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risk list, not the hidden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939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still unproven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21305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20939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sourced founder complaints found in two research passes.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18120" y="21305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20939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structured interviews in the first 30 days, with kill criteria set in advance.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6941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could commoditize the payments layer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51960" y="37307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36941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is already building its own RTO Analytics Dashboard.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37307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6941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 cross-channel synthesis (ads + WhatsApp + logistics together), not payments data alone.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943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and Putler sit adjacent, not clear of us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51960" y="53309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52943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already combines WhatsApp+Shopify+Razorpay; Putler claims native Razorpay support.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53309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52943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both products directly pre-build; position as analytics-first where they're CRM/messaging-first.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Founder-market fit, not a resume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331720"/>
            <a:ext cx="1371600" cy="13716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6" name="Image 0" descr="/tmp/deck/icons/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944" y="2660904"/>
            <a:ext cx="713232" cy="713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19659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 the problem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23774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ran SURGE, a D2C hair-styling brand — juggled the exact six-dashboard problem this product solves, firsthand.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32918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Research-first operating style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tagged verified / vendor claim / inference — the same discipline this company will run on internally.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4617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the field, not waiting for funding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50292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conversations with D2C brands are underway now, ahead of any code being written — this raise completes that loop, it doesn't start it.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Pre-seed: fund the validation, then the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$40K–$60K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round, sized to fund 90 days of validation and MVP build — not a broader growth 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7223760" cy="1097280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9842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founder validation loop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774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underway — this funds it through to a clear go/no-go before writing production code.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3136392"/>
            <a:ext cx="7223760" cy="1097280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3246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 (3 core integrations)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393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one payment gateway (Razorpay) + one logistics carrier (Shiprocket) — the smallest provable version of the wedge, widening to Cashfree/PayU and other carriers next.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4398264"/>
            <a:ext cx="7223760" cy="1097280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45079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9011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paying pilot brands, priced from day one, not given away free.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IN 90 DAYS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Either: real, sourced evidence of willingness-to-pay from 5+ brands — or a clear, evidence-based kill decision. Both are a successful use of this capital.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2026-08-29T18:04:34Z</dcterms:created>
  <dcterms:modified xsi:type="dcterms:W3CDTF">2026-08-29T18:04:34Z</dcterms:modified>
</cp:coreProperties>
</file>